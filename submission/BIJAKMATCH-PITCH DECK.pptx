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embeddedFontLst>
    <p:embeddedFont>
      <p:font typeface="Archivo Black" charset="1" panose="020B0A03020202020B04"/>
      <p:regular r:id="rId14"/>
    </p:embeddedFont>
    <p:embeddedFont>
      <p:font typeface="Inter Semi-Bold" charset="1" panose="02000503000000020004"/>
      <p:regular r:id="rId15"/>
    </p:embeddedFont>
    <p:embeddedFont>
      <p:font typeface="Inter Ultra-Bold" charset="1" panose="02000503000000020004"/>
      <p:regular r:id="rId16"/>
    </p:embeddedFont>
    <p:embeddedFont>
      <p:font typeface="Inter Medium" charset="1" panose="02000503000000020004"/>
      <p:regular r:id="rId17"/>
    </p:embeddedFont>
    <p:embeddedFont>
      <p:font typeface="Arial" charset="1" panose="020B0604020202020204"/>
      <p:regular r:id="rId18"/>
    </p:embeddedFont>
    <p:embeddedFont>
      <p:font typeface="Times New Roman" charset="1" panose="02020603050405020304"/>
      <p:regular r:id="rId19"/>
    </p:embeddedFont>
    <p:embeddedFont>
      <p:font typeface="Inter Bold" charset="1" panose="02000503000000020004"/>
      <p:regular r:id="rId20"/>
    </p:embeddedFont>
    <p:embeddedFont>
      <p:font typeface="Inter" charset="1" panose="0200050300000002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3697" y="5822947"/>
            <a:ext cx="2232022" cy="850897"/>
            <a:chOff x="0" y="0"/>
            <a:chExt cx="2232025" cy="850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2105025" cy="723900"/>
            </a:xfrm>
            <a:custGeom>
              <a:avLst/>
              <a:gdLst/>
              <a:ahLst/>
              <a:cxnLst/>
              <a:rect r="r" b="b" t="t" l="l"/>
              <a:pathLst>
                <a:path h="723900" w="2105025">
                  <a:moveTo>
                    <a:pt x="0" y="0"/>
                  </a:moveTo>
                  <a:lnTo>
                    <a:pt x="2105025" y="0"/>
                  </a:lnTo>
                  <a:lnTo>
                    <a:pt x="2105025" y="723900"/>
                  </a:lnTo>
                  <a:lnTo>
                    <a:pt x="0" y="7239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2105025" cy="723900"/>
            </a:xfrm>
            <a:custGeom>
              <a:avLst/>
              <a:gdLst/>
              <a:ahLst/>
              <a:cxnLst/>
              <a:rect r="r" b="b" t="t" l="l"/>
              <a:pathLst>
                <a:path h="723900" w="2105025">
                  <a:moveTo>
                    <a:pt x="9525" y="0"/>
                  </a:moveTo>
                  <a:lnTo>
                    <a:pt x="2095500" y="0"/>
                  </a:lnTo>
                  <a:lnTo>
                    <a:pt x="2105025" y="0"/>
                  </a:lnTo>
                  <a:lnTo>
                    <a:pt x="2105025" y="9525"/>
                  </a:lnTo>
                  <a:lnTo>
                    <a:pt x="2105025" y="714375"/>
                  </a:lnTo>
                  <a:lnTo>
                    <a:pt x="2105025" y="723900"/>
                  </a:lnTo>
                  <a:lnTo>
                    <a:pt x="2095500" y="723900"/>
                  </a:lnTo>
                  <a:lnTo>
                    <a:pt x="9525" y="723900"/>
                  </a:lnTo>
                  <a:lnTo>
                    <a:pt x="0" y="723900"/>
                  </a:lnTo>
                  <a:lnTo>
                    <a:pt x="0" y="71437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714375"/>
                  </a:lnTo>
                  <a:lnTo>
                    <a:pt x="9525" y="714375"/>
                  </a:lnTo>
                  <a:lnTo>
                    <a:pt x="9525" y="704850"/>
                  </a:lnTo>
                  <a:lnTo>
                    <a:pt x="2095500" y="704850"/>
                  </a:lnTo>
                  <a:lnTo>
                    <a:pt x="2095500" y="714375"/>
                  </a:lnTo>
                  <a:lnTo>
                    <a:pt x="2085975" y="714375"/>
                  </a:lnTo>
                  <a:lnTo>
                    <a:pt x="2085975" y="9525"/>
                  </a:lnTo>
                  <a:lnTo>
                    <a:pt x="2095500" y="9525"/>
                  </a:lnTo>
                  <a:lnTo>
                    <a:pt x="2095500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57200" y="2085975"/>
            <a:ext cx="885825" cy="209550"/>
            <a:chOff x="0" y="0"/>
            <a:chExt cx="885825" cy="2095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5825" cy="209550"/>
            </a:xfrm>
            <a:custGeom>
              <a:avLst/>
              <a:gdLst/>
              <a:ahLst/>
              <a:cxnLst/>
              <a:rect r="r" b="b" t="t" l="l"/>
              <a:pathLst>
                <a:path h="209550" w="885825">
                  <a:moveTo>
                    <a:pt x="0" y="0"/>
                  </a:moveTo>
                  <a:lnTo>
                    <a:pt x="885825" y="0"/>
                  </a:lnTo>
                  <a:lnTo>
                    <a:pt x="885825" y="209550"/>
                  </a:lnTo>
                  <a:lnTo>
                    <a:pt x="0" y="20955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93697" y="327022"/>
            <a:ext cx="507997" cy="507997"/>
            <a:chOff x="0" y="0"/>
            <a:chExt cx="508000" cy="50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381000" y="190500"/>
                  </a:moveTo>
                  <a:cubicBezTo>
                    <a:pt x="381000" y="202946"/>
                    <a:pt x="379730" y="215392"/>
                    <a:pt x="377317" y="227711"/>
                  </a:cubicBezTo>
                  <a:cubicBezTo>
                    <a:pt x="374904" y="240030"/>
                    <a:pt x="371221" y="251841"/>
                    <a:pt x="366522" y="263398"/>
                  </a:cubicBezTo>
                  <a:cubicBezTo>
                    <a:pt x="361823" y="274955"/>
                    <a:pt x="355854" y="285877"/>
                    <a:pt x="348869" y="296291"/>
                  </a:cubicBezTo>
                  <a:cubicBezTo>
                    <a:pt x="341884" y="306705"/>
                    <a:pt x="334010" y="316357"/>
                    <a:pt x="325120" y="325120"/>
                  </a:cubicBezTo>
                  <a:cubicBezTo>
                    <a:pt x="316230" y="333883"/>
                    <a:pt x="306705" y="341884"/>
                    <a:pt x="296291" y="348869"/>
                  </a:cubicBezTo>
                  <a:cubicBezTo>
                    <a:pt x="285877" y="355854"/>
                    <a:pt x="274955" y="361696"/>
                    <a:pt x="263398" y="366522"/>
                  </a:cubicBezTo>
                  <a:cubicBezTo>
                    <a:pt x="251841" y="371348"/>
                    <a:pt x="239903" y="374904"/>
                    <a:pt x="227711" y="377317"/>
                  </a:cubicBezTo>
                  <a:cubicBezTo>
                    <a:pt x="215519" y="379730"/>
                    <a:pt x="202946" y="381000"/>
                    <a:pt x="190500" y="381000"/>
                  </a:cubicBezTo>
                  <a:cubicBezTo>
                    <a:pt x="178054" y="381000"/>
                    <a:pt x="165608" y="379730"/>
                    <a:pt x="153289" y="377317"/>
                  </a:cubicBezTo>
                  <a:cubicBezTo>
                    <a:pt x="140970" y="374904"/>
                    <a:pt x="129159" y="371221"/>
                    <a:pt x="117602" y="366522"/>
                  </a:cubicBezTo>
                  <a:cubicBezTo>
                    <a:pt x="106045" y="361823"/>
                    <a:pt x="95123" y="355854"/>
                    <a:pt x="84709" y="348869"/>
                  </a:cubicBezTo>
                  <a:cubicBezTo>
                    <a:pt x="74295" y="341884"/>
                    <a:pt x="64643" y="334010"/>
                    <a:pt x="55880" y="325120"/>
                  </a:cubicBezTo>
                  <a:cubicBezTo>
                    <a:pt x="47117" y="316230"/>
                    <a:pt x="39116" y="306705"/>
                    <a:pt x="32131" y="296291"/>
                  </a:cubicBezTo>
                  <a:cubicBezTo>
                    <a:pt x="25146" y="285877"/>
                    <a:pt x="19304" y="274955"/>
                    <a:pt x="14478" y="263398"/>
                  </a:cubicBezTo>
                  <a:cubicBezTo>
                    <a:pt x="9652" y="251841"/>
                    <a:pt x="6096" y="239903"/>
                    <a:pt x="3683" y="227711"/>
                  </a:cubicBezTo>
                  <a:cubicBezTo>
                    <a:pt x="1270" y="215519"/>
                    <a:pt x="0" y="202946"/>
                    <a:pt x="0" y="190500"/>
                  </a:cubicBezTo>
                  <a:cubicBezTo>
                    <a:pt x="0" y="178054"/>
                    <a:pt x="1270" y="165608"/>
                    <a:pt x="3683" y="153289"/>
                  </a:cubicBezTo>
                  <a:cubicBezTo>
                    <a:pt x="6096" y="140970"/>
                    <a:pt x="9779" y="129159"/>
                    <a:pt x="14478" y="117602"/>
                  </a:cubicBezTo>
                  <a:cubicBezTo>
                    <a:pt x="19177" y="106045"/>
                    <a:pt x="25146" y="95123"/>
                    <a:pt x="32131" y="84709"/>
                  </a:cubicBezTo>
                  <a:cubicBezTo>
                    <a:pt x="39116" y="74295"/>
                    <a:pt x="46990" y="64643"/>
                    <a:pt x="55753" y="55753"/>
                  </a:cubicBezTo>
                  <a:cubicBezTo>
                    <a:pt x="64516" y="46863"/>
                    <a:pt x="74168" y="38989"/>
                    <a:pt x="84582" y="32004"/>
                  </a:cubicBezTo>
                  <a:cubicBezTo>
                    <a:pt x="94996" y="25019"/>
                    <a:pt x="105918" y="19177"/>
                    <a:pt x="117475" y="14351"/>
                  </a:cubicBezTo>
                  <a:cubicBezTo>
                    <a:pt x="129032" y="9525"/>
                    <a:pt x="140970" y="5969"/>
                    <a:pt x="153162" y="3556"/>
                  </a:cubicBezTo>
                  <a:cubicBezTo>
                    <a:pt x="165354" y="1143"/>
                    <a:pt x="178054" y="0"/>
                    <a:pt x="190500" y="0"/>
                  </a:cubicBezTo>
                  <a:cubicBezTo>
                    <a:pt x="202946" y="0"/>
                    <a:pt x="215392" y="1270"/>
                    <a:pt x="227711" y="3683"/>
                  </a:cubicBezTo>
                  <a:cubicBezTo>
                    <a:pt x="240030" y="6096"/>
                    <a:pt x="251841" y="9779"/>
                    <a:pt x="263398" y="14478"/>
                  </a:cubicBezTo>
                  <a:cubicBezTo>
                    <a:pt x="274955" y="19177"/>
                    <a:pt x="285877" y="25146"/>
                    <a:pt x="296291" y="32131"/>
                  </a:cubicBezTo>
                  <a:cubicBezTo>
                    <a:pt x="306705" y="39116"/>
                    <a:pt x="316357" y="46990"/>
                    <a:pt x="325120" y="55880"/>
                  </a:cubicBezTo>
                  <a:cubicBezTo>
                    <a:pt x="333883" y="64770"/>
                    <a:pt x="341884" y="74295"/>
                    <a:pt x="348869" y="84709"/>
                  </a:cubicBezTo>
                  <a:cubicBezTo>
                    <a:pt x="355854" y="95123"/>
                    <a:pt x="361696" y="106045"/>
                    <a:pt x="366522" y="117602"/>
                  </a:cubicBezTo>
                  <a:cubicBezTo>
                    <a:pt x="371348" y="129159"/>
                    <a:pt x="374904" y="141097"/>
                    <a:pt x="377317" y="153289"/>
                  </a:cubicBezTo>
                  <a:cubicBezTo>
                    <a:pt x="379730" y="165481"/>
                    <a:pt x="381000" y="178054"/>
                    <a:pt x="381000" y="190500"/>
                  </a:cubicBez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70688" y="170688"/>
              <a:ext cx="166624" cy="166624"/>
            </a:xfrm>
            <a:custGeom>
              <a:avLst/>
              <a:gdLst/>
              <a:ahLst/>
              <a:cxnLst/>
              <a:rect r="r" b="b" t="t" l="l"/>
              <a:pathLst>
                <a:path h="166624" w="166624">
                  <a:moveTo>
                    <a:pt x="0" y="142875"/>
                  </a:moveTo>
                  <a:cubicBezTo>
                    <a:pt x="0" y="59563"/>
                    <a:pt x="59563" y="11938"/>
                    <a:pt x="166624" y="0"/>
                  </a:cubicBezTo>
                  <a:cubicBezTo>
                    <a:pt x="154686" y="107188"/>
                    <a:pt x="107061" y="166624"/>
                    <a:pt x="23749" y="166624"/>
                  </a:cubicBezTo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69385" y="205162"/>
              <a:ext cx="145263" cy="145301"/>
            </a:xfrm>
            <a:custGeom>
              <a:avLst/>
              <a:gdLst/>
              <a:ahLst/>
              <a:cxnLst/>
              <a:rect r="r" b="b" t="t" l="l"/>
              <a:pathLst>
                <a:path h="145301" w="145263">
                  <a:moveTo>
                    <a:pt x="2700" y="124276"/>
                  </a:moveTo>
                  <a:cubicBezTo>
                    <a:pt x="39149" y="75635"/>
                    <a:pt x="75725" y="39059"/>
                    <a:pt x="124366" y="2610"/>
                  </a:cubicBezTo>
                  <a:cubicBezTo>
                    <a:pt x="130208" y="-1708"/>
                    <a:pt x="138336" y="-565"/>
                    <a:pt x="142654" y="5277"/>
                  </a:cubicBezTo>
                  <a:cubicBezTo>
                    <a:pt x="146972" y="11119"/>
                    <a:pt x="145829" y="19247"/>
                    <a:pt x="139987" y="23565"/>
                  </a:cubicBezTo>
                  <a:cubicBezTo>
                    <a:pt x="93378" y="58490"/>
                    <a:pt x="58580" y="93415"/>
                    <a:pt x="23528" y="140024"/>
                  </a:cubicBezTo>
                  <a:cubicBezTo>
                    <a:pt x="19210" y="145866"/>
                    <a:pt x="10955" y="147009"/>
                    <a:pt x="5240" y="142691"/>
                  </a:cubicBezTo>
                  <a:cubicBezTo>
                    <a:pt x="-475" y="138373"/>
                    <a:pt x="-1745" y="130118"/>
                    <a:pt x="2573" y="124403"/>
                  </a:cubicBezTo>
                  <a:close/>
                </a:path>
              </a:pathLst>
            </a:custGeom>
            <a:solidFill>
              <a:srgbClr val="F2C23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677082" y="589512"/>
            <a:ext cx="5436565" cy="2271112"/>
            <a:chOff x="0" y="0"/>
            <a:chExt cx="5436565" cy="22711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18618" y="301498"/>
              <a:ext cx="5254370" cy="1906269"/>
            </a:xfrm>
            <a:custGeom>
              <a:avLst/>
              <a:gdLst/>
              <a:ahLst/>
              <a:cxnLst/>
              <a:rect r="r" b="b" t="t" l="l"/>
              <a:pathLst>
                <a:path h="1906269" w="5254370">
                  <a:moveTo>
                    <a:pt x="5187821" y="0"/>
                  </a:moveTo>
                  <a:lnTo>
                    <a:pt x="5123686" y="1837181"/>
                  </a:lnTo>
                  <a:lnTo>
                    <a:pt x="2286" y="1658365"/>
                  </a:lnTo>
                  <a:lnTo>
                    <a:pt x="0" y="1725040"/>
                  </a:lnTo>
                  <a:lnTo>
                    <a:pt x="5187948" y="1906269"/>
                  </a:lnTo>
                  <a:lnTo>
                    <a:pt x="5254370" y="2413"/>
                  </a:lnTo>
                  <a:lnTo>
                    <a:pt x="5187695" y="127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5254497" cy="2084958"/>
            </a:xfrm>
            <a:custGeom>
              <a:avLst/>
              <a:gdLst/>
              <a:ahLst/>
              <a:cxnLst/>
              <a:rect r="r" b="b" t="t" l="l"/>
              <a:pathLst>
                <a:path h="2084958" w="5254497">
                  <a:moveTo>
                    <a:pt x="66421" y="0"/>
                  </a:moveTo>
                  <a:lnTo>
                    <a:pt x="0" y="1903856"/>
                  </a:lnTo>
                  <a:lnTo>
                    <a:pt x="4564633" y="2063241"/>
                  </a:lnTo>
                  <a:lnTo>
                    <a:pt x="5187949" y="2084958"/>
                  </a:lnTo>
                  <a:lnTo>
                    <a:pt x="5197092" y="1824100"/>
                  </a:lnTo>
                  <a:lnTo>
                    <a:pt x="5254497" y="181102"/>
                  </a:lnTo>
                  <a:lnTo>
                    <a:pt x="66421" y="0"/>
                  </a:lnTo>
                  <a:close/>
                </a:path>
              </a:pathLst>
            </a:custGeom>
            <a:solidFill>
              <a:srgbClr val="EEF3EC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5254370" cy="2085085"/>
            </a:xfrm>
            <a:custGeom>
              <a:avLst/>
              <a:gdLst/>
              <a:ahLst/>
              <a:cxnLst/>
              <a:rect r="r" b="b" t="t" l="l"/>
              <a:pathLst>
                <a:path h="2085085" w="5254370">
                  <a:moveTo>
                    <a:pt x="84836" y="19685"/>
                  </a:moveTo>
                  <a:lnTo>
                    <a:pt x="5234684" y="199517"/>
                  </a:lnTo>
                  <a:lnTo>
                    <a:pt x="5169533" y="2065273"/>
                  </a:lnTo>
                  <a:lnTo>
                    <a:pt x="19685" y="1885441"/>
                  </a:lnTo>
                  <a:lnTo>
                    <a:pt x="84836" y="19685"/>
                  </a:lnTo>
                  <a:close/>
                  <a:moveTo>
                    <a:pt x="66421" y="0"/>
                  </a:moveTo>
                  <a:lnTo>
                    <a:pt x="66040" y="9525"/>
                  </a:lnTo>
                  <a:lnTo>
                    <a:pt x="381" y="1894331"/>
                  </a:lnTo>
                  <a:lnTo>
                    <a:pt x="0" y="1903856"/>
                  </a:lnTo>
                  <a:lnTo>
                    <a:pt x="2491739" y="1990851"/>
                  </a:lnTo>
                  <a:lnTo>
                    <a:pt x="5178423" y="2084704"/>
                  </a:lnTo>
                  <a:lnTo>
                    <a:pt x="5187948" y="2085085"/>
                  </a:lnTo>
                  <a:lnTo>
                    <a:pt x="5254370" y="181229"/>
                  </a:lnTo>
                  <a:lnTo>
                    <a:pt x="2028824" y="68580"/>
                  </a:lnTo>
                  <a:lnTo>
                    <a:pt x="75946" y="381"/>
                  </a:lnTo>
                  <a:lnTo>
                    <a:pt x="66421" y="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118440">
            <a:off x="6790877" y="760914"/>
            <a:ext cx="5153854" cy="1869196"/>
            <a:chOff x="0" y="0"/>
            <a:chExt cx="6871805" cy="2492261"/>
          </a:xfrm>
        </p:grpSpPr>
        <p:sp>
          <p:nvSpPr>
            <p:cNvPr name="Freeform 16" id="16" descr="Prototype: Stay, Evolve and Pivot cards"/>
            <p:cNvSpPr/>
            <p:nvPr/>
          </p:nvSpPr>
          <p:spPr>
            <a:xfrm flipH="false" flipV="false" rot="0">
              <a:off x="0" y="0"/>
              <a:ext cx="6871843" cy="2492248"/>
            </a:xfrm>
            <a:custGeom>
              <a:avLst/>
              <a:gdLst/>
              <a:ahLst/>
              <a:cxnLst/>
              <a:rect r="r" b="b" t="t" l="l"/>
              <a:pathLst>
                <a:path h="2492248" w="6871843">
                  <a:moveTo>
                    <a:pt x="1143" y="0"/>
                  </a:moveTo>
                  <a:lnTo>
                    <a:pt x="0" y="2489200"/>
                  </a:lnTo>
                  <a:lnTo>
                    <a:pt x="6870700" y="2492248"/>
                  </a:lnTo>
                  <a:lnTo>
                    <a:pt x="6871843" y="3048"/>
                  </a:lnTo>
                  <a:lnTo>
                    <a:pt x="1143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707897" y="3429048"/>
            <a:ext cx="4331494" cy="3179159"/>
            <a:chOff x="0" y="0"/>
            <a:chExt cx="4331487" cy="317915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19964" y="118618"/>
              <a:ext cx="4047993" cy="2997069"/>
            </a:xfrm>
            <a:custGeom>
              <a:avLst/>
              <a:gdLst/>
              <a:ahLst/>
              <a:cxnLst/>
              <a:rect r="r" b="b" t="t" l="l"/>
              <a:pathLst>
                <a:path h="2997069" w="4047993">
                  <a:moveTo>
                    <a:pt x="3948297" y="0"/>
                  </a:moveTo>
                  <a:lnTo>
                    <a:pt x="3881622" y="2286"/>
                  </a:lnTo>
                  <a:lnTo>
                    <a:pt x="3979032" y="2791456"/>
                  </a:lnTo>
                  <a:lnTo>
                    <a:pt x="0" y="2930394"/>
                  </a:lnTo>
                  <a:lnTo>
                    <a:pt x="2286" y="2997069"/>
                  </a:lnTo>
                  <a:lnTo>
                    <a:pt x="4047993" y="2855718"/>
                  </a:lnTo>
                  <a:lnTo>
                    <a:pt x="3948297" y="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500" y="63500"/>
              <a:ext cx="4145402" cy="2996942"/>
            </a:xfrm>
            <a:custGeom>
              <a:avLst/>
              <a:gdLst/>
              <a:ahLst/>
              <a:cxnLst/>
              <a:rect r="r" b="b" t="t" l="l"/>
              <a:pathLst>
                <a:path h="2996942" w="4145402">
                  <a:moveTo>
                    <a:pt x="4045707" y="0"/>
                  </a:moveTo>
                  <a:lnTo>
                    <a:pt x="0" y="141224"/>
                  </a:lnTo>
                  <a:lnTo>
                    <a:pt x="99695" y="2996942"/>
                  </a:lnTo>
                  <a:lnTo>
                    <a:pt x="1769108" y="2938776"/>
                  </a:lnTo>
                  <a:lnTo>
                    <a:pt x="4145402" y="2855845"/>
                  </a:lnTo>
                  <a:lnTo>
                    <a:pt x="4045707" y="0"/>
                  </a:lnTo>
                  <a:close/>
                </a:path>
              </a:pathLst>
            </a:custGeom>
            <a:solidFill>
              <a:srgbClr val="EEF3EC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63500" y="63373"/>
              <a:ext cx="4145275" cy="2997069"/>
            </a:xfrm>
            <a:custGeom>
              <a:avLst/>
              <a:gdLst/>
              <a:ahLst/>
              <a:cxnLst/>
              <a:rect r="r" b="b" t="t" l="l"/>
              <a:pathLst>
                <a:path h="2997069" w="4145275">
                  <a:moveTo>
                    <a:pt x="4027291" y="19812"/>
                  </a:moveTo>
                  <a:lnTo>
                    <a:pt x="4125716" y="2837430"/>
                  </a:lnTo>
                  <a:lnTo>
                    <a:pt x="118110" y="2977511"/>
                  </a:lnTo>
                  <a:lnTo>
                    <a:pt x="19685" y="159766"/>
                  </a:lnTo>
                  <a:lnTo>
                    <a:pt x="4027291" y="19812"/>
                  </a:lnTo>
                  <a:close/>
                  <a:moveTo>
                    <a:pt x="4045707" y="127"/>
                  </a:moveTo>
                  <a:lnTo>
                    <a:pt x="1867405" y="76200"/>
                  </a:lnTo>
                  <a:lnTo>
                    <a:pt x="9525" y="141097"/>
                  </a:lnTo>
                  <a:lnTo>
                    <a:pt x="0" y="141351"/>
                  </a:lnTo>
                  <a:lnTo>
                    <a:pt x="53086" y="1662174"/>
                  </a:lnTo>
                  <a:lnTo>
                    <a:pt x="99314" y="2987544"/>
                  </a:lnTo>
                  <a:lnTo>
                    <a:pt x="99695" y="2997069"/>
                  </a:lnTo>
                  <a:lnTo>
                    <a:pt x="1719959" y="2940427"/>
                  </a:lnTo>
                  <a:lnTo>
                    <a:pt x="4135749" y="2856099"/>
                  </a:lnTo>
                  <a:lnTo>
                    <a:pt x="4145274" y="2855718"/>
                  </a:lnTo>
                  <a:lnTo>
                    <a:pt x="4144894" y="2846193"/>
                  </a:lnTo>
                  <a:lnTo>
                    <a:pt x="4045834" y="9525"/>
                  </a:lnTo>
                  <a:lnTo>
                    <a:pt x="4045453" y="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21" id="21"/>
          <p:cNvGrpSpPr/>
          <p:nvPr/>
        </p:nvGrpSpPr>
        <p:grpSpPr>
          <a:xfrm rot="-119640">
            <a:off x="7838932" y="3581171"/>
            <a:ext cx="4010301" cy="2819800"/>
            <a:chOff x="0" y="0"/>
            <a:chExt cx="5347068" cy="3759733"/>
          </a:xfrm>
        </p:grpSpPr>
        <p:sp>
          <p:nvSpPr>
            <p:cNvPr name="Freeform 22" id="22" descr="Prototype: Career Transition Card"/>
            <p:cNvSpPr/>
            <p:nvPr/>
          </p:nvSpPr>
          <p:spPr>
            <a:xfrm flipH="false" flipV="false" rot="0">
              <a:off x="0" y="0"/>
              <a:ext cx="5347081" cy="3759708"/>
            </a:xfrm>
            <a:custGeom>
              <a:avLst/>
              <a:gdLst/>
              <a:ahLst/>
              <a:cxnLst/>
              <a:rect r="r" b="b" t="t" l="l"/>
              <a:pathLst>
                <a:path h="3759708" w="5347081">
                  <a:moveTo>
                    <a:pt x="5346700" y="0"/>
                  </a:moveTo>
                  <a:lnTo>
                    <a:pt x="0" y="508"/>
                  </a:lnTo>
                  <a:lnTo>
                    <a:pt x="381" y="3759708"/>
                  </a:lnTo>
                  <a:lnTo>
                    <a:pt x="426974" y="3759708"/>
                  </a:lnTo>
                  <a:lnTo>
                    <a:pt x="5347081" y="3759200"/>
                  </a:lnTo>
                  <a:lnTo>
                    <a:pt x="534670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493092" y="546049"/>
            <a:ext cx="1473603" cy="270139"/>
            <a:chOff x="0" y="0"/>
            <a:chExt cx="1473606" cy="2701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73586" cy="270124"/>
            </a:xfrm>
            <a:custGeom>
              <a:avLst/>
              <a:gdLst/>
              <a:ahLst/>
              <a:cxnLst/>
              <a:rect r="r" b="b" t="t" l="l"/>
              <a:pathLst>
                <a:path h="270124" w="1473586">
                  <a:moveTo>
                    <a:pt x="7620" y="0"/>
                  </a:moveTo>
                  <a:lnTo>
                    <a:pt x="1473586" y="51180"/>
                  </a:lnTo>
                  <a:lnTo>
                    <a:pt x="1465966" y="270124"/>
                  </a:lnTo>
                  <a:lnTo>
                    <a:pt x="0" y="218944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52500" y="319678"/>
            <a:ext cx="1816465" cy="328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11111"/>
                </a:solidFill>
                <a:latin typeface="Archivo Black"/>
                <a:ea typeface="Archivo Black"/>
                <a:cs typeface="Archivo Black"/>
                <a:sym typeface="Archivo Black"/>
              </a:rPr>
              <a:t>BIJAKMATCH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8992" y="640451"/>
            <a:ext cx="31823" cy="14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b="true" sz="975">
                <a:solidFill>
                  <a:srgbClr val="37415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2500" y="640451"/>
            <a:ext cx="2766070" cy="14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b="true" sz="975">
                <a:solidFill>
                  <a:srgbClr val="37415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YourtrustedcareeradvisorforTVET workers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52450" y="2107959"/>
            <a:ext cx="696430" cy="1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b="true" sz="787" spc="59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PITCH DECK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57200" y="2290839"/>
            <a:ext cx="6182792" cy="2254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95"/>
              </a:lnSpc>
            </a:pPr>
            <a:r>
              <a:rPr lang="en-US" sz="6300">
                <a:solidFill>
                  <a:srgbClr val="111111"/>
                </a:solidFill>
                <a:latin typeface="Archivo Black"/>
                <a:ea typeface="Archivo Black"/>
                <a:cs typeface="Archivo Black"/>
                <a:sym typeface="Archivo Black"/>
              </a:rPr>
              <a:t>SAME HANDS.</a:t>
            </a:r>
          </a:p>
          <a:p>
            <a:pPr algn="l">
              <a:lnSpc>
                <a:spcPts val="8895"/>
              </a:lnSpc>
            </a:pPr>
            <a:r>
              <a:rPr lang="en-US" sz="6300">
                <a:solidFill>
                  <a:srgbClr val="16A34A"/>
                </a:solidFill>
                <a:latin typeface="Archivo Black"/>
                <a:ea typeface="Archivo Black"/>
                <a:cs typeface="Archivo Black"/>
                <a:sym typeface="Archivo Black"/>
              </a:rPr>
              <a:t>NEW WORK.</a:t>
            </a:r>
          </a:p>
          <a:p>
            <a:pPr algn="l">
              <a:lnSpc>
                <a:spcPts val="1800"/>
              </a:lnSpc>
            </a:pPr>
            <a:r>
              <a:rPr lang="en-US" b="true" sz="1275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A career planner that reads a TVET worker's certificates and</a:t>
            </a:r>
          </a:p>
          <a:p>
            <a:pPr algn="l">
              <a:lnSpc>
                <a:spcPts val="1800"/>
              </a:lnSpc>
            </a:pPr>
            <a:r>
              <a:rPr lang="en-US" b="true" sz="1275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real daily tasks, then shows a clear, affordable next step.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734123" y="6468104"/>
            <a:ext cx="1070277" cy="13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[Event name · date]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28650" y="6017152"/>
            <a:ext cx="746960" cy="118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b="true" sz="750" spc="53">
                <a:solidFill>
                  <a:srgbClr val="6B7280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PREPARED BY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28650" y="6165418"/>
            <a:ext cx="1802416" cy="31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11111"/>
                </a:solidFill>
                <a:latin typeface="Archivo Black"/>
                <a:ea typeface="Archivo Black"/>
                <a:cs typeface="Archivo Black"/>
                <a:sym typeface="Archivo Black"/>
              </a:rPr>
              <a:t>KMJDIHATIKU</a:t>
            </a:r>
          </a:p>
        </p:txBody>
      </p:sp>
      <p:sp>
        <p:nvSpPr>
          <p:cNvPr name="TextBox 33" id="33"/>
          <p:cNvSpPr txBox="true"/>
          <p:nvPr/>
        </p:nvSpPr>
        <p:spPr>
          <a:xfrm rot="120000">
            <a:off x="10593518" y="593369"/>
            <a:ext cx="1288761" cy="1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b="true" sz="787" spc="56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WORKING PROTOTYPE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7200" y="361950"/>
            <a:ext cx="1028700" cy="219075"/>
            <a:chOff x="0" y="0"/>
            <a:chExt cx="1028700" cy="219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8700" cy="219075"/>
            </a:xfrm>
            <a:custGeom>
              <a:avLst/>
              <a:gdLst/>
              <a:ahLst/>
              <a:cxnLst/>
              <a:rect r="r" b="b" t="t" l="l"/>
              <a:pathLst>
                <a:path h="219075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219075"/>
                  </a:lnTo>
                  <a:lnTo>
                    <a:pt x="0" y="219075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93697" y="1555747"/>
            <a:ext cx="6442072" cy="4908547"/>
            <a:chOff x="0" y="0"/>
            <a:chExt cx="6442075" cy="4908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6315075" cy="4781550"/>
            </a:xfrm>
            <a:custGeom>
              <a:avLst/>
              <a:gdLst/>
              <a:ahLst/>
              <a:cxnLst/>
              <a:rect r="r" b="b" t="t" l="l"/>
              <a:pathLst>
                <a:path h="4781550" w="6315075">
                  <a:moveTo>
                    <a:pt x="0" y="0"/>
                  </a:moveTo>
                  <a:lnTo>
                    <a:pt x="6315075" y="0"/>
                  </a:lnTo>
                  <a:lnTo>
                    <a:pt x="6315075" y="4781550"/>
                  </a:lnTo>
                  <a:lnTo>
                    <a:pt x="0" y="47815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6315075" cy="4781550"/>
            </a:xfrm>
            <a:custGeom>
              <a:avLst/>
              <a:gdLst/>
              <a:ahLst/>
              <a:cxnLst/>
              <a:rect r="r" b="b" t="t" l="l"/>
              <a:pathLst>
                <a:path h="4781550" w="6315075">
                  <a:moveTo>
                    <a:pt x="9525" y="0"/>
                  </a:moveTo>
                  <a:lnTo>
                    <a:pt x="6305550" y="0"/>
                  </a:lnTo>
                  <a:lnTo>
                    <a:pt x="6315075" y="0"/>
                  </a:lnTo>
                  <a:lnTo>
                    <a:pt x="6315075" y="9525"/>
                  </a:lnTo>
                  <a:lnTo>
                    <a:pt x="6315075" y="4772025"/>
                  </a:lnTo>
                  <a:lnTo>
                    <a:pt x="6315075" y="4781550"/>
                  </a:lnTo>
                  <a:lnTo>
                    <a:pt x="6305550" y="4781550"/>
                  </a:lnTo>
                  <a:lnTo>
                    <a:pt x="9525" y="4781550"/>
                  </a:lnTo>
                  <a:lnTo>
                    <a:pt x="0" y="4781550"/>
                  </a:lnTo>
                  <a:lnTo>
                    <a:pt x="0" y="477202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4772025"/>
                  </a:lnTo>
                  <a:lnTo>
                    <a:pt x="9525" y="4772025"/>
                  </a:lnTo>
                  <a:lnTo>
                    <a:pt x="9525" y="4762500"/>
                  </a:lnTo>
                  <a:lnTo>
                    <a:pt x="6305550" y="4762500"/>
                  </a:lnTo>
                  <a:lnTo>
                    <a:pt x="6305550" y="4772025"/>
                  </a:lnTo>
                  <a:lnTo>
                    <a:pt x="6296025" y="4772025"/>
                  </a:lnTo>
                  <a:lnTo>
                    <a:pt x="6296025" y="9525"/>
                  </a:lnTo>
                  <a:lnTo>
                    <a:pt x="6305550" y="9525"/>
                  </a:lnTo>
                  <a:lnTo>
                    <a:pt x="6305550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6850" y="368300"/>
              <a:ext cx="6048375" cy="4010025"/>
            </a:xfrm>
            <a:custGeom>
              <a:avLst/>
              <a:gdLst/>
              <a:ahLst/>
              <a:cxnLst/>
              <a:rect r="r" b="b" t="t" l="l"/>
              <a:pathLst>
                <a:path h="4010025" w="6048375">
                  <a:moveTo>
                    <a:pt x="0" y="0"/>
                  </a:moveTo>
                  <a:lnTo>
                    <a:pt x="6048375" y="0"/>
                  </a:lnTo>
                  <a:lnTo>
                    <a:pt x="6048375" y="4010025"/>
                  </a:lnTo>
                  <a:lnTo>
                    <a:pt x="0" y="40100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96850" y="368300"/>
              <a:ext cx="6048375" cy="4010025"/>
            </a:xfrm>
            <a:custGeom>
              <a:avLst/>
              <a:gdLst/>
              <a:ahLst/>
              <a:cxnLst/>
              <a:rect r="r" b="b" t="t" l="l"/>
              <a:pathLst>
                <a:path h="4010025" w="6048375">
                  <a:moveTo>
                    <a:pt x="9525" y="0"/>
                  </a:moveTo>
                  <a:lnTo>
                    <a:pt x="6038850" y="0"/>
                  </a:lnTo>
                  <a:lnTo>
                    <a:pt x="6048375" y="0"/>
                  </a:lnTo>
                  <a:lnTo>
                    <a:pt x="6048375" y="9525"/>
                  </a:lnTo>
                  <a:lnTo>
                    <a:pt x="6048375" y="4000500"/>
                  </a:lnTo>
                  <a:lnTo>
                    <a:pt x="6048375" y="4010025"/>
                  </a:lnTo>
                  <a:lnTo>
                    <a:pt x="6038850" y="4010025"/>
                  </a:lnTo>
                  <a:lnTo>
                    <a:pt x="9525" y="4010025"/>
                  </a:lnTo>
                  <a:lnTo>
                    <a:pt x="0" y="4010025"/>
                  </a:lnTo>
                  <a:lnTo>
                    <a:pt x="0" y="4000500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4000500"/>
                  </a:lnTo>
                  <a:lnTo>
                    <a:pt x="9525" y="4000500"/>
                  </a:lnTo>
                  <a:lnTo>
                    <a:pt x="9525" y="3990975"/>
                  </a:lnTo>
                  <a:lnTo>
                    <a:pt x="6038850" y="3990975"/>
                  </a:lnTo>
                  <a:lnTo>
                    <a:pt x="6038850" y="4000500"/>
                  </a:lnTo>
                  <a:lnTo>
                    <a:pt x="6029325" y="4000500"/>
                  </a:lnTo>
                  <a:lnTo>
                    <a:pt x="6029325" y="9525"/>
                  </a:lnTo>
                  <a:lnTo>
                    <a:pt x="6038850" y="9525"/>
                  </a:lnTo>
                  <a:lnTo>
                    <a:pt x="6038850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09600" y="1943100"/>
            <a:ext cx="6010275" cy="3971925"/>
            <a:chOff x="0" y="0"/>
            <a:chExt cx="8013700" cy="5295900"/>
          </a:xfrm>
        </p:grpSpPr>
        <p:sp>
          <p:nvSpPr>
            <p:cNvPr name="Freeform 10" id="10" descr="Headline: AI and green economy to impact 620,000 jobs in Malaysia by 2030"/>
            <p:cNvSpPr/>
            <p:nvPr/>
          </p:nvSpPr>
          <p:spPr>
            <a:xfrm flipH="false" flipV="false" rot="0">
              <a:off x="0" y="0"/>
              <a:ext cx="8013700" cy="5295900"/>
            </a:xfrm>
            <a:custGeom>
              <a:avLst/>
              <a:gdLst/>
              <a:ahLst/>
              <a:cxnLst/>
              <a:rect r="r" b="b" t="t" l="l"/>
              <a:pathLst>
                <a:path h="5295900" w="8013700">
                  <a:moveTo>
                    <a:pt x="0" y="0"/>
                  </a:moveTo>
                  <a:lnTo>
                    <a:pt x="8013700" y="0"/>
                  </a:lnTo>
                  <a:lnTo>
                    <a:pt x="8013700" y="5295900"/>
                  </a:lnTo>
                  <a:lnTo>
                    <a:pt x="0" y="5295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57200" y="1619250"/>
            <a:ext cx="762000" cy="219075"/>
            <a:chOff x="0" y="0"/>
            <a:chExt cx="762000" cy="2190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2000" cy="219075"/>
            </a:xfrm>
            <a:custGeom>
              <a:avLst/>
              <a:gdLst/>
              <a:ahLst/>
              <a:cxnLst/>
              <a:rect r="r" b="b" t="t" l="l"/>
              <a:pathLst>
                <a:path h="219075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219075"/>
                  </a:lnTo>
                  <a:lnTo>
                    <a:pt x="0" y="219075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5026142" y="1555747"/>
            <a:ext cx="6772151" cy="2441572"/>
          </a:xfrm>
          <a:custGeom>
            <a:avLst/>
            <a:gdLst/>
            <a:ahLst/>
            <a:cxnLst/>
            <a:rect r="r" b="b" t="t" l="l"/>
            <a:pathLst>
              <a:path h="2441572" w="6772151">
                <a:moveTo>
                  <a:pt x="0" y="0"/>
                </a:moveTo>
                <a:lnTo>
                  <a:pt x="6772152" y="0"/>
                </a:lnTo>
                <a:lnTo>
                  <a:pt x="6772152" y="2441572"/>
                </a:lnTo>
                <a:lnTo>
                  <a:pt x="0" y="24415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224127" y="4022722"/>
            <a:ext cx="8574176" cy="2518839"/>
          </a:xfrm>
          <a:custGeom>
            <a:avLst/>
            <a:gdLst/>
            <a:ahLst/>
            <a:cxnLst/>
            <a:rect r="r" b="b" t="t" l="l"/>
            <a:pathLst>
              <a:path h="2518839" w="8574176">
                <a:moveTo>
                  <a:pt x="0" y="0"/>
                </a:moveTo>
                <a:lnTo>
                  <a:pt x="8574176" y="0"/>
                </a:lnTo>
                <a:lnTo>
                  <a:pt x="8574176" y="2518838"/>
                </a:lnTo>
                <a:lnTo>
                  <a:pt x="0" y="25188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35769" y="1943100"/>
            <a:ext cx="2998611" cy="1946272"/>
          </a:xfrm>
          <a:custGeom>
            <a:avLst/>
            <a:gdLst/>
            <a:ahLst/>
            <a:cxnLst/>
            <a:rect r="r" b="b" t="t" l="l"/>
            <a:pathLst>
              <a:path h="1946272" w="2998611">
                <a:moveTo>
                  <a:pt x="0" y="0"/>
                </a:moveTo>
                <a:lnTo>
                  <a:pt x="2998611" y="0"/>
                </a:lnTo>
                <a:lnTo>
                  <a:pt x="2998611" y="1946272"/>
                </a:lnTo>
                <a:lnTo>
                  <a:pt x="0" y="19462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0070" t="0" r="-13646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39270" y="4108209"/>
            <a:ext cx="716756" cy="1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b="true" sz="787" spc="63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GREEN JOBS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2450" y="383934"/>
            <a:ext cx="850802" cy="1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b="true" sz="787" spc="60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WHY NOW · 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7200" y="714642"/>
            <a:ext cx="7448883" cy="1024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3300">
                <a:solidFill>
                  <a:srgbClr val="111111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JOBS ARE CHANGING.</a:t>
            </a:r>
          </a:p>
          <a:p>
            <a:pPr algn="just">
              <a:lnSpc>
                <a:spcPts val="3300"/>
              </a:lnSpc>
            </a:pPr>
            <a:r>
              <a:rPr lang="en-US" sz="3300">
                <a:solidFill>
                  <a:srgbClr val="16A34A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WORKERS ARE NOT READY.</a:t>
            </a:r>
          </a:p>
          <a:p>
            <a:pPr algn="just">
              <a:lnSpc>
                <a:spcPts val="787"/>
              </a:lnSpc>
            </a:pPr>
            <a:r>
              <a:rPr lang="en-US" b="true" sz="787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TVET TODAY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52450" y="1641234"/>
            <a:ext cx="575062" cy="1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b="true" sz="787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HEADLINE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57200" y="6491764"/>
            <a:ext cx="7235238" cy="10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4"/>
              </a:lnSpc>
            </a:pPr>
            <a:r>
              <a:rPr lang="en-US" b="true" sz="675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Sources: The Sun Daily via TalentCorp, 14 Aug 2025 · Deputy Prime Minister via The Sun / Bernama, Oct 2025 · Human Resources Minister via Malay Mail, 27 Aug 2025 (NETR)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0550" y="5982995"/>
            <a:ext cx="1887226" cy="11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7"/>
              </a:lnSpc>
            </a:pPr>
            <a:r>
              <a:rPr lang="en-US" b="true" sz="712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The Sun Daily, via TalentCorp, 14 Aug 2025</a:t>
            </a:r>
          </a:p>
        </p:txBody>
      </p:sp>
      <p:sp>
        <p:nvSpPr>
          <p:cNvPr name="TextBox 22" id="22"/>
          <p:cNvSpPr txBox="true"/>
          <p:nvPr/>
        </p:nvSpPr>
        <p:spPr>
          <a:xfrm rot="180000">
            <a:off x="5260219" y="1904601"/>
            <a:ext cx="1474232" cy="459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620,000</a:t>
            </a:r>
          </a:p>
        </p:txBody>
      </p:sp>
      <p:sp>
        <p:nvSpPr>
          <p:cNvPr name="TextBox 23" id="23"/>
          <p:cNvSpPr txBox="true"/>
          <p:nvPr/>
        </p:nvSpPr>
        <p:spPr>
          <a:xfrm rot="180000">
            <a:off x="5259222" y="2302625"/>
            <a:ext cx="1390259" cy="118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b="true" sz="750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JOBS IMPACTED BY 2030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45298" y="2742190"/>
            <a:ext cx="1464354" cy="26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"/>
              </a:lnSpc>
            </a:pPr>
            <a:r>
              <a:rPr lang="en-US" b="true" sz="825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[Clipping: The Sun, Oct 2025 TVET enrolment headline]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98109" y="5209165"/>
            <a:ext cx="1764668" cy="26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"/>
              </a:lnSpc>
            </a:pPr>
            <a:r>
              <a:rPr lang="en-US" b="true" sz="825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[Clipping: Malay Mail, 27 Aug 2025 green jobs headline]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63277" y="2527002"/>
            <a:ext cx="1883740" cy="595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3450">
                <a:solidFill>
                  <a:srgbClr val="111111"/>
                </a:solidFill>
                <a:latin typeface="Archivo Black"/>
                <a:ea typeface="Archivo Black"/>
                <a:cs typeface="Archivo Black"/>
                <a:sym typeface="Archivo Black"/>
              </a:rPr>
              <a:t>439,000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63277" y="4993977"/>
            <a:ext cx="1883740" cy="595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3450">
                <a:solidFill>
                  <a:srgbClr val="15803D"/>
                </a:solidFill>
                <a:latin typeface="Archivo Black"/>
                <a:ea typeface="Archivo Black"/>
                <a:cs typeface="Archivo Black"/>
                <a:sym typeface="Archivo Black"/>
              </a:rPr>
              <a:t>300,000</a:t>
            </a:r>
          </a:p>
        </p:txBody>
      </p:sp>
      <p:sp>
        <p:nvSpPr>
          <p:cNvPr name="TextBox 28" id="28"/>
          <p:cNvSpPr txBox="true"/>
          <p:nvPr/>
        </p:nvSpPr>
        <p:spPr>
          <a:xfrm rot="-120000">
            <a:off x="3512589" y="5965313"/>
            <a:ext cx="5274688" cy="31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11111"/>
                </a:solidFill>
                <a:latin typeface="Archivo Black"/>
                <a:ea typeface="Archivo Black"/>
                <a:cs typeface="Archivo Black"/>
                <a:sym typeface="Archivo Black"/>
              </a:rPr>
              <a:t>CHANGE IS COMING. </a:t>
            </a:r>
            <a:r>
              <a:rPr lang="en-US" sz="1800">
                <a:solidFill>
                  <a:srgbClr val="DC2626"/>
                </a:solidFill>
                <a:latin typeface="Archivo Black"/>
                <a:ea typeface="Archivo Black"/>
                <a:cs typeface="Archivo Black"/>
                <a:sym typeface="Archivo Black"/>
              </a:rPr>
              <a:t>WHO GUIDES THEM?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7039270" y="4441593"/>
            <a:ext cx="2724007" cy="1473432"/>
          </a:xfrm>
          <a:custGeom>
            <a:avLst/>
            <a:gdLst/>
            <a:ahLst/>
            <a:cxnLst/>
            <a:rect r="r" b="b" t="t" l="l"/>
            <a:pathLst>
              <a:path h="1473432" w="2724007">
                <a:moveTo>
                  <a:pt x="0" y="0"/>
                </a:moveTo>
                <a:lnTo>
                  <a:pt x="2724007" y="0"/>
                </a:lnTo>
                <a:lnTo>
                  <a:pt x="2724007" y="1473432"/>
                </a:lnTo>
                <a:lnTo>
                  <a:pt x="0" y="14734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7705" t="-37478" r="-63660" b="-35323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7200" y="361950"/>
            <a:ext cx="1200150" cy="219075"/>
            <a:chOff x="0" y="0"/>
            <a:chExt cx="1200150" cy="219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150" cy="219075"/>
            </a:xfrm>
            <a:custGeom>
              <a:avLst/>
              <a:gdLst/>
              <a:ahLst/>
              <a:cxnLst/>
              <a:rect r="r" b="b" t="t" l="l"/>
              <a:pathLst>
                <a:path h="219075" w="1200150">
                  <a:moveTo>
                    <a:pt x="0" y="0"/>
                  </a:moveTo>
                  <a:lnTo>
                    <a:pt x="1200150" y="0"/>
                  </a:lnTo>
                  <a:lnTo>
                    <a:pt x="1200150" y="219075"/>
                  </a:lnTo>
                  <a:lnTo>
                    <a:pt x="0" y="219075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93697" y="1555747"/>
            <a:ext cx="11404597" cy="4992291"/>
          </a:xfrm>
          <a:custGeom>
            <a:avLst/>
            <a:gdLst/>
            <a:ahLst/>
            <a:cxnLst/>
            <a:rect r="r" b="b" t="t" l="l"/>
            <a:pathLst>
              <a:path h="4992291" w="11404597">
                <a:moveTo>
                  <a:pt x="0" y="0"/>
                </a:moveTo>
                <a:lnTo>
                  <a:pt x="11404597" y="0"/>
                </a:lnTo>
                <a:lnTo>
                  <a:pt x="11404597" y="4992290"/>
                </a:lnTo>
                <a:lnTo>
                  <a:pt x="0" y="4992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5800" y="1936518"/>
            <a:ext cx="3465000" cy="1572450"/>
          </a:xfrm>
          <a:custGeom>
            <a:avLst/>
            <a:gdLst/>
            <a:ahLst/>
            <a:cxnLst/>
            <a:rect r="r" b="b" t="t" l="l"/>
            <a:pathLst>
              <a:path h="1572450" w="3465000">
                <a:moveTo>
                  <a:pt x="0" y="0"/>
                </a:moveTo>
                <a:lnTo>
                  <a:pt x="3465000" y="0"/>
                </a:lnTo>
                <a:lnTo>
                  <a:pt x="3465000" y="1572450"/>
                </a:lnTo>
                <a:lnTo>
                  <a:pt x="0" y="1572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447" r="0" b="-1744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58160" y="5670309"/>
            <a:ext cx="1283160" cy="1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b="true" sz="787" spc="60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THREE WRONG ROADS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2450" y="383934"/>
            <a:ext cx="1018289" cy="1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b="true" sz="787" spc="61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THE WORKER · 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7200" y="714642"/>
            <a:ext cx="6443434" cy="8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300">
                <a:solidFill>
                  <a:srgbClr val="111111"/>
                </a:solidFill>
                <a:latin typeface="Archivo Black"/>
                <a:ea typeface="Archivo Black"/>
                <a:cs typeface="Archivo Black"/>
                <a:sym typeface="Archivo Black"/>
              </a:rPr>
              <a:t>MEET ENCIK AHMAD.</a:t>
            </a:r>
          </a:p>
          <a:p>
            <a:pPr algn="l">
              <a:lnSpc>
                <a:spcPts val="3300"/>
              </a:lnSpc>
            </a:pPr>
            <a:r>
              <a:rPr lang="en-US" sz="3300">
                <a:solidFill>
                  <a:srgbClr val="16A34A"/>
                </a:solidFill>
                <a:latin typeface="Archivo Black"/>
                <a:ea typeface="Archivo Black"/>
                <a:cs typeface="Archivo Black"/>
                <a:sym typeface="Archivo Black"/>
              </a:rPr>
              <a:t>THREE PROBLEMS, NO MAP.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2450" y="1641234"/>
            <a:ext cx="827875" cy="1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b="true" sz="787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ENCIK AHMAD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7200" y="6491764"/>
            <a:ext cx="2609479" cy="10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4"/>
              </a:lnSpc>
            </a:pPr>
            <a:r>
              <a:rPr lang="en-US" b="true" sz="675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Encik Ahmad is an illustrative profile; all of his data is synthetic.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73959" y="2076583"/>
            <a:ext cx="142561" cy="293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73959" y="3419608"/>
            <a:ext cx="142561" cy="293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773959" y="4753108"/>
            <a:ext cx="142561" cy="293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67760" y="4688891"/>
            <a:ext cx="2610793" cy="21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b="true" sz="1425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"Go green" has no first step.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59762" y="4937865"/>
            <a:ext cx="38252" cy="15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b="true" sz="1050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67760" y="2012366"/>
            <a:ext cx="3139107" cy="21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b="true" sz="1425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His CV can't show what he can do.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49953" y="2270865"/>
            <a:ext cx="38252" cy="15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b="true" sz="1050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67760" y="3345866"/>
            <a:ext cx="3725704" cy="21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b="true" sz="1425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AI news scares him. It doesn't guide him.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344601" y="3604365"/>
            <a:ext cx="38252" cy="15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b="true" sz="1050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67760" y="3604365"/>
            <a:ext cx="3685870" cy="15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b="true" sz="1050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He</a:t>
            </a:r>
            <a:r>
              <a:rPr lang="en-US" b="true" sz="10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050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needs</a:t>
            </a:r>
            <a:r>
              <a:rPr lang="en-US" b="true" sz="10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050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to</a:t>
            </a:r>
            <a:r>
              <a:rPr lang="en-US" b="true" sz="10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050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know</a:t>
            </a:r>
            <a:r>
              <a:rPr lang="en-US" b="true" sz="10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050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which</a:t>
            </a:r>
            <a:r>
              <a:rPr lang="en-US" b="true" sz="10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050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tasks</a:t>
            </a:r>
            <a:r>
              <a:rPr lang="en-US" b="true" sz="10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050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are</a:t>
            </a:r>
            <a:r>
              <a:rPr lang="en-US" b="true" sz="10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050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changing,</a:t>
            </a:r>
            <a:r>
              <a:rPr lang="en-US" b="true" sz="10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050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not</a:t>
            </a:r>
            <a:r>
              <a:rPr lang="en-US" b="true" sz="10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050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a</a:t>
            </a:r>
            <a:r>
              <a:rPr lang="en-US" b="true" sz="10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050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threat.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67760" y="2270865"/>
            <a:ext cx="4584659" cy="15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b="true" sz="1050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"Technician,5years"hidesthefaultshefixesandthe evidence he has.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67760" y="4937865"/>
            <a:ext cx="4827870" cy="15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b="true" sz="1050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Alastingskillorafad?Canhelearnitintime? Which licence is he missing?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09992" y="5666365"/>
            <a:ext cx="828761" cy="138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b="true" sz="825">
                <a:solidFill>
                  <a:srgbClr val="37415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Another degree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27389" y="5666365"/>
            <a:ext cx="1036711" cy="138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b="true" sz="825">
                <a:solidFill>
                  <a:srgbClr val="37415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A generic AI course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548688" y="5666365"/>
            <a:ext cx="576396" cy="138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b="true" sz="825">
                <a:solidFill>
                  <a:srgbClr val="37415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Do nothing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23900" y="3515354"/>
            <a:ext cx="230486" cy="13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Age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23900" y="3772529"/>
            <a:ext cx="215294" cy="13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Job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23900" y="4029704"/>
            <a:ext cx="687162" cy="13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Cer</a:t>
            </a:r>
            <a:r>
              <a:rPr lang="en-US" b="true" sz="900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 </a:t>
            </a:r>
            <a:r>
              <a:rPr lang="en-US" b="true" sz="900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tif</a:t>
            </a:r>
            <a:r>
              <a:rPr lang="en-US" b="true" sz="900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 </a:t>
            </a:r>
            <a:r>
              <a:rPr lang="en-US" b="true" sz="900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ic</a:t>
            </a:r>
            <a:r>
              <a:rPr lang="en-US" b="true" sz="900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 </a:t>
            </a:r>
            <a:r>
              <a:rPr lang="en-US" b="true" sz="900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ates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23900" y="4286879"/>
            <a:ext cx="290046" cy="13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Time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23900" y="4544054"/>
            <a:ext cx="362093" cy="13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Worry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21631" y="3515354"/>
            <a:ext cx="1067829" cy="13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rPr>
              <a:t>28 · TVET graduate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21631" y="3772529"/>
            <a:ext cx="1914563" cy="13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rPr>
              <a:t>E&amp;E production technician, 5 years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21631" y="4029704"/>
            <a:ext cx="2297220" cy="13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rPr>
              <a:t>SKM electrical + 1 HRD Corp short course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21631" y="4286879"/>
            <a:ext cx="1697269" cy="13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rPr>
              <a:t>4 hours a week, limited budget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21631" y="4544054"/>
            <a:ext cx="1527572" cy="13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rPr>
              <a:t>"AI will replace technicians"</a:t>
            </a:r>
          </a:p>
        </p:txBody>
      </p:sp>
      <p:sp>
        <p:nvSpPr>
          <p:cNvPr name="TextBox 36" id="36"/>
          <p:cNvSpPr txBox="true"/>
          <p:nvPr/>
        </p:nvSpPr>
        <p:spPr>
          <a:xfrm rot="-120000">
            <a:off x="3327223" y="5965313"/>
            <a:ext cx="5652830" cy="31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11111"/>
                </a:solidFill>
                <a:latin typeface="Archivo Black"/>
                <a:ea typeface="Archivo Black"/>
                <a:cs typeface="Archivo Black"/>
                <a:sym typeface="Archivo Black"/>
              </a:rPr>
              <a:t>WHAT CARRIES OVER? </a:t>
            </a:r>
            <a:r>
              <a:rPr lang="en-US" sz="1800">
                <a:solidFill>
                  <a:srgbClr val="DC2626"/>
                </a:solidFill>
                <a:latin typeface="Archivo Black"/>
                <a:ea typeface="Archivo Black"/>
                <a:cs typeface="Archivo Black"/>
                <a:sym typeface="Archivo Black"/>
              </a:rPr>
              <a:t>WHAT DO I DO FIRST?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7200" y="361950"/>
            <a:ext cx="1304925" cy="219075"/>
            <a:chOff x="0" y="0"/>
            <a:chExt cx="1304925" cy="219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4925" cy="219075"/>
            </a:xfrm>
            <a:custGeom>
              <a:avLst/>
              <a:gdLst/>
              <a:ahLst/>
              <a:cxnLst/>
              <a:rect r="r" b="b" t="t" l="l"/>
              <a:pathLst>
                <a:path h="219075" w="1304925">
                  <a:moveTo>
                    <a:pt x="0" y="0"/>
                  </a:moveTo>
                  <a:lnTo>
                    <a:pt x="1304925" y="0"/>
                  </a:lnTo>
                  <a:lnTo>
                    <a:pt x="1304925" y="219075"/>
                  </a:lnTo>
                  <a:lnTo>
                    <a:pt x="0" y="219075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93697" y="1555747"/>
            <a:ext cx="3698872" cy="4298947"/>
            <a:chOff x="0" y="0"/>
            <a:chExt cx="3698875" cy="4298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3571875" cy="4171950"/>
            </a:xfrm>
            <a:custGeom>
              <a:avLst/>
              <a:gdLst/>
              <a:ahLst/>
              <a:cxnLst/>
              <a:rect r="r" b="b" t="t" l="l"/>
              <a:pathLst>
                <a:path h="4171950" w="3571875">
                  <a:moveTo>
                    <a:pt x="0" y="0"/>
                  </a:moveTo>
                  <a:lnTo>
                    <a:pt x="3571875" y="0"/>
                  </a:lnTo>
                  <a:lnTo>
                    <a:pt x="3571875" y="4171950"/>
                  </a:lnTo>
                  <a:lnTo>
                    <a:pt x="0" y="41719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3571875" cy="4171950"/>
            </a:xfrm>
            <a:custGeom>
              <a:avLst/>
              <a:gdLst/>
              <a:ahLst/>
              <a:cxnLst/>
              <a:rect r="r" b="b" t="t" l="l"/>
              <a:pathLst>
                <a:path h="4171950" w="3571875">
                  <a:moveTo>
                    <a:pt x="9525" y="0"/>
                  </a:moveTo>
                  <a:lnTo>
                    <a:pt x="3562350" y="0"/>
                  </a:lnTo>
                  <a:lnTo>
                    <a:pt x="3571875" y="0"/>
                  </a:lnTo>
                  <a:lnTo>
                    <a:pt x="3571875" y="9525"/>
                  </a:lnTo>
                  <a:lnTo>
                    <a:pt x="3571875" y="4162425"/>
                  </a:lnTo>
                  <a:lnTo>
                    <a:pt x="3571875" y="4171950"/>
                  </a:lnTo>
                  <a:lnTo>
                    <a:pt x="3562350" y="4171950"/>
                  </a:lnTo>
                  <a:lnTo>
                    <a:pt x="9525" y="4171950"/>
                  </a:lnTo>
                  <a:lnTo>
                    <a:pt x="0" y="4171950"/>
                  </a:lnTo>
                  <a:lnTo>
                    <a:pt x="0" y="416242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4162425"/>
                  </a:lnTo>
                  <a:lnTo>
                    <a:pt x="9525" y="4162425"/>
                  </a:lnTo>
                  <a:lnTo>
                    <a:pt x="9525" y="4152900"/>
                  </a:lnTo>
                  <a:lnTo>
                    <a:pt x="3562350" y="4152900"/>
                  </a:lnTo>
                  <a:lnTo>
                    <a:pt x="3562350" y="4162425"/>
                  </a:lnTo>
                  <a:lnTo>
                    <a:pt x="3552825" y="4162425"/>
                  </a:lnTo>
                  <a:lnTo>
                    <a:pt x="3552825" y="9525"/>
                  </a:lnTo>
                  <a:lnTo>
                    <a:pt x="3562350" y="9525"/>
                  </a:lnTo>
                  <a:lnTo>
                    <a:pt x="3562350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6850" y="625475"/>
              <a:ext cx="3305175" cy="3181350"/>
            </a:xfrm>
            <a:custGeom>
              <a:avLst/>
              <a:gdLst/>
              <a:ahLst/>
              <a:cxnLst/>
              <a:rect r="r" b="b" t="t" l="l"/>
              <a:pathLst>
                <a:path h="3181350" w="3305175">
                  <a:moveTo>
                    <a:pt x="0" y="0"/>
                  </a:moveTo>
                  <a:lnTo>
                    <a:pt x="3305175" y="0"/>
                  </a:lnTo>
                  <a:lnTo>
                    <a:pt x="3305175" y="3181350"/>
                  </a:lnTo>
                  <a:lnTo>
                    <a:pt x="0" y="3181350"/>
                  </a:lnTo>
                  <a:close/>
                </a:path>
              </a:pathLst>
            </a:custGeom>
            <a:solidFill>
              <a:srgbClr val="EEF3EC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96850" y="625475"/>
              <a:ext cx="3305175" cy="3181350"/>
            </a:xfrm>
            <a:custGeom>
              <a:avLst/>
              <a:gdLst/>
              <a:ahLst/>
              <a:cxnLst/>
              <a:rect r="r" b="b" t="t" l="l"/>
              <a:pathLst>
                <a:path h="3181350" w="3305175">
                  <a:moveTo>
                    <a:pt x="9525" y="0"/>
                  </a:moveTo>
                  <a:lnTo>
                    <a:pt x="3295650" y="0"/>
                  </a:lnTo>
                  <a:lnTo>
                    <a:pt x="3305175" y="0"/>
                  </a:lnTo>
                  <a:lnTo>
                    <a:pt x="3305175" y="9525"/>
                  </a:lnTo>
                  <a:lnTo>
                    <a:pt x="3305175" y="3171825"/>
                  </a:lnTo>
                  <a:lnTo>
                    <a:pt x="3305175" y="3181350"/>
                  </a:lnTo>
                  <a:lnTo>
                    <a:pt x="3295650" y="3181350"/>
                  </a:lnTo>
                  <a:lnTo>
                    <a:pt x="9525" y="3181350"/>
                  </a:lnTo>
                  <a:lnTo>
                    <a:pt x="0" y="3181350"/>
                  </a:lnTo>
                  <a:lnTo>
                    <a:pt x="0" y="317182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3171825"/>
                  </a:lnTo>
                  <a:lnTo>
                    <a:pt x="9525" y="3171825"/>
                  </a:lnTo>
                  <a:lnTo>
                    <a:pt x="9525" y="3162300"/>
                  </a:lnTo>
                  <a:lnTo>
                    <a:pt x="3295650" y="3162300"/>
                  </a:lnTo>
                  <a:lnTo>
                    <a:pt x="3295650" y="3171825"/>
                  </a:lnTo>
                  <a:lnTo>
                    <a:pt x="3286125" y="3171825"/>
                  </a:lnTo>
                  <a:lnTo>
                    <a:pt x="3286125" y="9525"/>
                  </a:lnTo>
                  <a:lnTo>
                    <a:pt x="3295650" y="9525"/>
                  </a:lnTo>
                  <a:lnTo>
                    <a:pt x="3295650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457200" y="1619250"/>
            <a:ext cx="1123950" cy="219075"/>
            <a:chOff x="0" y="0"/>
            <a:chExt cx="1123950" cy="2190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3950" cy="219075"/>
            </a:xfrm>
            <a:custGeom>
              <a:avLst/>
              <a:gdLst/>
              <a:ahLst/>
              <a:cxnLst/>
              <a:rect r="r" b="b" t="t" l="l"/>
              <a:pathLst>
                <a:path h="219075" w="1123950">
                  <a:moveTo>
                    <a:pt x="0" y="0"/>
                  </a:moveTo>
                  <a:lnTo>
                    <a:pt x="1123950" y="0"/>
                  </a:lnTo>
                  <a:lnTo>
                    <a:pt x="1123950" y="219075"/>
                  </a:lnTo>
                  <a:lnTo>
                    <a:pt x="0" y="219075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90550" y="5438775"/>
            <a:ext cx="3305175" cy="19050"/>
            <a:chOff x="0" y="0"/>
            <a:chExt cx="3305175" cy="19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5175" cy="19050"/>
            </a:xfrm>
            <a:custGeom>
              <a:avLst/>
              <a:gdLst/>
              <a:ahLst/>
              <a:cxnLst/>
              <a:rect r="r" b="b" t="t" l="l"/>
              <a:pathLst>
                <a:path h="19050" w="3305175">
                  <a:moveTo>
                    <a:pt x="0" y="0"/>
                  </a:moveTo>
                  <a:lnTo>
                    <a:pt x="3305175" y="0"/>
                  </a:lnTo>
                  <a:lnTo>
                    <a:pt x="330517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251322" y="1555747"/>
            <a:ext cx="3689347" cy="4298947"/>
            <a:chOff x="0" y="0"/>
            <a:chExt cx="3689350" cy="42989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3562350" cy="4171950"/>
            </a:xfrm>
            <a:custGeom>
              <a:avLst/>
              <a:gdLst/>
              <a:ahLst/>
              <a:cxnLst/>
              <a:rect r="r" b="b" t="t" l="l"/>
              <a:pathLst>
                <a:path h="4171950" w="3562350">
                  <a:moveTo>
                    <a:pt x="0" y="0"/>
                  </a:moveTo>
                  <a:lnTo>
                    <a:pt x="3562350" y="0"/>
                  </a:lnTo>
                  <a:lnTo>
                    <a:pt x="3562350" y="4171950"/>
                  </a:lnTo>
                  <a:lnTo>
                    <a:pt x="0" y="41719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3562350" cy="4171950"/>
            </a:xfrm>
            <a:custGeom>
              <a:avLst/>
              <a:gdLst/>
              <a:ahLst/>
              <a:cxnLst/>
              <a:rect r="r" b="b" t="t" l="l"/>
              <a:pathLst>
                <a:path h="4171950" w="3562350">
                  <a:moveTo>
                    <a:pt x="9525" y="0"/>
                  </a:moveTo>
                  <a:lnTo>
                    <a:pt x="3552825" y="0"/>
                  </a:lnTo>
                  <a:lnTo>
                    <a:pt x="3562350" y="0"/>
                  </a:lnTo>
                  <a:lnTo>
                    <a:pt x="3562350" y="9525"/>
                  </a:lnTo>
                  <a:lnTo>
                    <a:pt x="3562350" y="4162425"/>
                  </a:lnTo>
                  <a:lnTo>
                    <a:pt x="3562350" y="4171950"/>
                  </a:lnTo>
                  <a:lnTo>
                    <a:pt x="3552825" y="4171950"/>
                  </a:lnTo>
                  <a:lnTo>
                    <a:pt x="9525" y="4171950"/>
                  </a:lnTo>
                  <a:lnTo>
                    <a:pt x="0" y="4171950"/>
                  </a:lnTo>
                  <a:lnTo>
                    <a:pt x="0" y="416242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4162425"/>
                  </a:lnTo>
                  <a:lnTo>
                    <a:pt x="9525" y="4162425"/>
                  </a:lnTo>
                  <a:lnTo>
                    <a:pt x="9525" y="4152900"/>
                  </a:lnTo>
                  <a:lnTo>
                    <a:pt x="3552825" y="4152900"/>
                  </a:lnTo>
                  <a:lnTo>
                    <a:pt x="3552825" y="4162425"/>
                  </a:lnTo>
                  <a:lnTo>
                    <a:pt x="3543300" y="4162425"/>
                  </a:lnTo>
                  <a:lnTo>
                    <a:pt x="3543300" y="9525"/>
                  </a:lnTo>
                  <a:lnTo>
                    <a:pt x="3552825" y="9525"/>
                  </a:lnTo>
                  <a:lnTo>
                    <a:pt x="35528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96850" y="625475"/>
              <a:ext cx="3295650" cy="3181350"/>
            </a:xfrm>
            <a:custGeom>
              <a:avLst/>
              <a:gdLst/>
              <a:ahLst/>
              <a:cxnLst/>
              <a:rect r="r" b="b" t="t" l="l"/>
              <a:pathLst>
                <a:path h="3181350" w="3295650">
                  <a:moveTo>
                    <a:pt x="0" y="0"/>
                  </a:moveTo>
                  <a:lnTo>
                    <a:pt x="3295650" y="0"/>
                  </a:lnTo>
                  <a:lnTo>
                    <a:pt x="3295650" y="3181350"/>
                  </a:lnTo>
                  <a:lnTo>
                    <a:pt x="0" y="3181350"/>
                  </a:lnTo>
                  <a:close/>
                </a:path>
              </a:pathLst>
            </a:custGeom>
            <a:solidFill>
              <a:srgbClr val="EEF3EC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96850" y="625475"/>
              <a:ext cx="3295650" cy="3181350"/>
            </a:xfrm>
            <a:custGeom>
              <a:avLst/>
              <a:gdLst/>
              <a:ahLst/>
              <a:cxnLst/>
              <a:rect r="r" b="b" t="t" l="l"/>
              <a:pathLst>
                <a:path h="3181350" w="3295650">
                  <a:moveTo>
                    <a:pt x="9525" y="0"/>
                  </a:moveTo>
                  <a:lnTo>
                    <a:pt x="3286125" y="0"/>
                  </a:lnTo>
                  <a:lnTo>
                    <a:pt x="3295650" y="0"/>
                  </a:lnTo>
                  <a:lnTo>
                    <a:pt x="3295650" y="9525"/>
                  </a:lnTo>
                  <a:lnTo>
                    <a:pt x="3295650" y="3171825"/>
                  </a:lnTo>
                  <a:lnTo>
                    <a:pt x="3295650" y="3181350"/>
                  </a:lnTo>
                  <a:lnTo>
                    <a:pt x="3286125" y="3181350"/>
                  </a:lnTo>
                  <a:lnTo>
                    <a:pt x="9525" y="3181350"/>
                  </a:lnTo>
                  <a:lnTo>
                    <a:pt x="0" y="3181350"/>
                  </a:lnTo>
                  <a:lnTo>
                    <a:pt x="0" y="317182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3171825"/>
                  </a:lnTo>
                  <a:lnTo>
                    <a:pt x="9525" y="3171825"/>
                  </a:lnTo>
                  <a:lnTo>
                    <a:pt x="9525" y="3162300"/>
                  </a:lnTo>
                  <a:lnTo>
                    <a:pt x="3286125" y="3162300"/>
                  </a:lnTo>
                  <a:lnTo>
                    <a:pt x="3286125" y="3171825"/>
                  </a:lnTo>
                  <a:lnTo>
                    <a:pt x="3276600" y="3171825"/>
                  </a:lnTo>
                  <a:lnTo>
                    <a:pt x="3276600" y="9525"/>
                  </a:lnTo>
                  <a:lnTo>
                    <a:pt x="3286125" y="9525"/>
                  </a:lnTo>
                  <a:lnTo>
                    <a:pt x="32861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314825" y="1619250"/>
            <a:ext cx="781050" cy="219075"/>
            <a:chOff x="0" y="0"/>
            <a:chExt cx="781050" cy="2190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1050" cy="219075"/>
            </a:xfrm>
            <a:custGeom>
              <a:avLst/>
              <a:gdLst/>
              <a:ahLst/>
              <a:cxnLst/>
              <a:rect r="r" b="b" t="t" l="l"/>
              <a:pathLst>
                <a:path h="219075" w="781050">
                  <a:moveTo>
                    <a:pt x="0" y="0"/>
                  </a:moveTo>
                  <a:lnTo>
                    <a:pt x="781050" y="0"/>
                  </a:lnTo>
                  <a:lnTo>
                    <a:pt x="781050" y="219075"/>
                  </a:lnTo>
                  <a:lnTo>
                    <a:pt x="0" y="219075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448175" y="5438775"/>
            <a:ext cx="3295650" cy="19050"/>
            <a:chOff x="0" y="0"/>
            <a:chExt cx="3295650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95650" cy="19050"/>
            </a:xfrm>
            <a:custGeom>
              <a:avLst/>
              <a:gdLst/>
              <a:ahLst/>
              <a:cxnLst/>
              <a:rect r="r" b="b" t="t" l="l"/>
              <a:pathLst>
                <a:path h="19050" w="3295650">
                  <a:moveTo>
                    <a:pt x="0" y="0"/>
                  </a:moveTo>
                  <a:lnTo>
                    <a:pt x="3295650" y="0"/>
                  </a:lnTo>
                  <a:lnTo>
                    <a:pt x="32956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099422" y="1555747"/>
            <a:ext cx="3698872" cy="4298947"/>
            <a:chOff x="0" y="0"/>
            <a:chExt cx="3698875" cy="42989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3500" y="63500"/>
              <a:ext cx="3571875" cy="4171950"/>
            </a:xfrm>
            <a:custGeom>
              <a:avLst/>
              <a:gdLst/>
              <a:ahLst/>
              <a:cxnLst/>
              <a:rect r="r" b="b" t="t" l="l"/>
              <a:pathLst>
                <a:path h="4171950" w="3571875">
                  <a:moveTo>
                    <a:pt x="0" y="0"/>
                  </a:moveTo>
                  <a:lnTo>
                    <a:pt x="3571875" y="0"/>
                  </a:lnTo>
                  <a:lnTo>
                    <a:pt x="3571875" y="4171950"/>
                  </a:lnTo>
                  <a:lnTo>
                    <a:pt x="0" y="41719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3571875" cy="4171950"/>
            </a:xfrm>
            <a:custGeom>
              <a:avLst/>
              <a:gdLst/>
              <a:ahLst/>
              <a:cxnLst/>
              <a:rect r="r" b="b" t="t" l="l"/>
              <a:pathLst>
                <a:path h="4171950" w="3571875">
                  <a:moveTo>
                    <a:pt x="9525" y="0"/>
                  </a:moveTo>
                  <a:lnTo>
                    <a:pt x="3562350" y="0"/>
                  </a:lnTo>
                  <a:lnTo>
                    <a:pt x="3571875" y="0"/>
                  </a:lnTo>
                  <a:lnTo>
                    <a:pt x="3571875" y="9525"/>
                  </a:lnTo>
                  <a:lnTo>
                    <a:pt x="3571875" y="4162425"/>
                  </a:lnTo>
                  <a:lnTo>
                    <a:pt x="3571875" y="4171950"/>
                  </a:lnTo>
                  <a:lnTo>
                    <a:pt x="3562350" y="4171950"/>
                  </a:lnTo>
                  <a:lnTo>
                    <a:pt x="9525" y="4171950"/>
                  </a:lnTo>
                  <a:lnTo>
                    <a:pt x="0" y="4171950"/>
                  </a:lnTo>
                  <a:lnTo>
                    <a:pt x="0" y="416242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4162425"/>
                  </a:lnTo>
                  <a:lnTo>
                    <a:pt x="9525" y="4162425"/>
                  </a:lnTo>
                  <a:lnTo>
                    <a:pt x="9525" y="4152900"/>
                  </a:lnTo>
                  <a:lnTo>
                    <a:pt x="3562350" y="4152900"/>
                  </a:lnTo>
                  <a:lnTo>
                    <a:pt x="3562350" y="4162425"/>
                  </a:lnTo>
                  <a:lnTo>
                    <a:pt x="3552825" y="4162425"/>
                  </a:lnTo>
                  <a:lnTo>
                    <a:pt x="3552825" y="9525"/>
                  </a:lnTo>
                  <a:lnTo>
                    <a:pt x="3562350" y="9525"/>
                  </a:lnTo>
                  <a:lnTo>
                    <a:pt x="3562350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96850" y="625475"/>
              <a:ext cx="3305175" cy="3181350"/>
            </a:xfrm>
            <a:custGeom>
              <a:avLst/>
              <a:gdLst/>
              <a:ahLst/>
              <a:cxnLst/>
              <a:rect r="r" b="b" t="t" l="l"/>
              <a:pathLst>
                <a:path h="3181350" w="3305175">
                  <a:moveTo>
                    <a:pt x="0" y="0"/>
                  </a:moveTo>
                  <a:lnTo>
                    <a:pt x="3305175" y="0"/>
                  </a:lnTo>
                  <a:lnTo>
                    <a:pt x="3305175" y="3181350"/>
                  </a:lnTo>
                  <a:lnTo>
                    <a:pt x="0" y="3181350"/>
                  </a:lnTo>
                  <a:close/>
                </a:path>
              </a:pathLst>
            </a:custGeom>
            <a:solidFill>
              <a:srgbClr val="EEF3EC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96850" y="625475"/>
              <a:ext cx="3305175" cy="3181350"/>
            </a:xfrm>
            <a:custGeom>
              <a:avLst/>
              <a:gdLst/>
              <a:ahLst/>
              <a:cxnLst/>
              <a:rect r="r" b="b" t="t" l="l"/>
              <a:pathLst>
                <a:path h="3181350" w="3305175">
                  <a:moveTo>
                    <a:pt x="9525" y="0"/>
                  </a:moveTo>
                  <a:lnTo>
                    <a:pt x="3295650" y="0"/>
                  </a:lnTo>
                  <a:lnTo>
                    <a:pt x="3305175" y="0"/>
                  </a:lnTo>
                  <a:lnTo>
                    <a:pt x="3305175" y="9525"/>
                  </a:lnTo>
                  <a:lnTo>
                    <a:pt x="3305175" y="3171825"/>
                  </a:lnTo>
                  <a:lnTo>
                    <a:pt x="3305175" y="3181350"/>
                  </a:lnTo>
                  <a:lnTo>
                    <a:pt x="3295650" y="3181350"/>
                  </a:lnTo>
                  <a:lnTo>
                    <a:pt x="9525" y="3181350"/>
                  </a:lnTo>
                  <a:lnTo>
                    <a:pt x="0" y="3181350"/>
                  </a:lnTo>
                  <a:lnTo>
                    <a:pt x="0" y="317182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3171825"/>
                  </a:lnTo>
                  <a:lnTo>
                    <a:pt x="9525" y="3171825"/>
                  </a:lnTo>
                  <a:lnTo>
                    <a:pt x="9525" y="3162300"/>
                  </a:lnTo>
                  <a:lnTo>
                    <a:pt x="3295650" y="3162300"/>
                  </a:lnTo>
                  <a:lnTo>
                    <a:pt x="3295650" y="3171825"/>
                  </a:lnTo>
                  <a:lnTo>
                    <a:pt x="3286125" y="3171825"/>
                  </a:lnTo>
                  <a:lnTo>
                    <a:pt x="3286125" y="9525"/>
                  </a:lnTo>
                  <a:lnTo>
                    <a:pt x="3295650" y="9525"/>
                  </a:lnTo>
                  <a:lnTo>
                    <a:pt x="3295650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09600" y="2200275"/>
            <a:ext cx="3267075" cy="3143250"/>
            <a:chOff x="0" y="0"/>
            <a:chExt cx="4356100" cy="4191000"/>
          </a:xfrm>
        </p:grpSpPr>
        <p:sp>
          <p:nvSpPr>
            <p:cNvPr name="Freeform 28" id="28" descr="Prototype: skills panel"/>
            <p:cNvSpPr/>
            <p:nvPr/>
          </p:nvSpPr>
          <p:spPr>
            <a:xfrm flipH="false" flipV="false" rot="0">
              <a:off x="0" y="0"/>
              <a:ext cx="43561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4356100">
                  <a:moveTo>
                    <a:pt x="0" y="0"/>
                  </a:moveTo>
                  <a:lnTo>
                    <a:pt x="4356100" y="0"/>
                  </a:lnTo>
                  <a:lnTo>
                    <a:pt x="4356100" y="4191000"/>
                  </a:lnTo>
                  <a:lnTo>
                    <a:pt x="0" y="419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8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467225" y="2200275"/>
            <a:ext cx="3257550" cy="3143250"/>
            <a:chOff x="0" y="0"/>
            <a:chExt cx="4343400" cy="4191000"/>
          </a:xfrm>
        </p:grpSpPr>
        <p:sp>
          <p:nvSpPr>
            <p:cNvPr name="Freeform 30" id="30" descr="Prototype: path cards"/>
            <p:cNvSpPr/>
            <p:nvPr/>
          </p:nvSpPr>
          <p:spPr>
            <a:xfrm flipH="false" flipV="false" rot="0">
              <a:off x="0" y="0"/>
              <a:ext cx="43434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4343400">
                  <a:moveTo>
                    <a:pt x="0" y="0"/>
                  </a:moveTo>
                  <a:lnTo>
                    <a:pt x="4343400" y="0"/>
                  </a:lnTo>
                  <a:lnTo>
                    <a:pt x="4343400" y="4191000"/>
                  </a:lnTo>
                  <a:lnTo>
                    <a:pt x="0" y="419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" t="0" r="-3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315325" y="2200275"/>
            <a:ext cx="3267075" cy="3143250"/>
            <a:chOff x="0" y="0"/>
            <a:chExt cx="4356100" cy="4191000"/>
          </a:xfrm>
        </p:grpSpPr>
        <p:sp>
          <p:nvSpPr>
            <p:cNvPr name="Freeform 32" id="32" descr="Prototype: study calendar"/>
            <p:cNvSpPr/>
            <p:nvPr/>
          </p:nvSpPr>
          <p:spPr>
            <a:xfrm flipH="false" flipV="false" rot="0">
              <a:off x="0" y="0"/>
              <a:ext cx="43561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4356100">
                  <a:moveTo>
                    <a:pt x="0" y="0"/>
                  </a:moveTo>
                  <a:lnTo>
                    <a:pt x="4356100" y="0"/>
                  </a:lnTo>
                  <a:lnTo>
                    <a:pt x="4356100" y="4191000"/>
                  </a:lnTo>
                  <a:lnTo>
                    <a:pt x="0" y="419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6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393697" y="5899147"/>
            <a:ext cx="11404597" cy="565147"/>
            <a:chOff x="0" y="0"/>
            <a:chExt cx="11404600" cy="5651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63500" y="63500"/>
              <a:ext cx="11277600" cy="438150"/>
            </a:xfrm>
            <a:custGeom>
              <a:avLst/>
              <a:gdLst/>
              <a:ahLst/>
              <a:cxnLst/>
              <a:rect r="r" b="b" t="t" l="l"/>
              <a:pathLst>
                <a:path h="438150" w="11277600">
                  <a:moveTo>
                    <a:pt x="0" y="0"/>
                  </a:moveTo>
                  <a:lnTo>
                    <a:pt x="11277600" y="0"/>
                  </a:lnTo>
                  <a:lnTo>
                    <a:pt x="11277600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7F7EC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63500" y="63500"/>
              <a:ext cx="11277600" cy="438150"/>
            </a:xfrm>
            <a:custGeom>
              <a:avLst/>
              <a:gdLst/>
              <a:ahLst/>
              <a:cxnLst/>
              <a:rect r="r" b="b" t="t" l="l"/>
              <a:pathLst>
                <a:path h="438150" w="11277600">
                  <a:moveTo>
                    <a:pt x="9525" y="0"/>
                  </a:moveTo>
                  <a:lnTo>
                    <a:pt x="11268075" y="0"/>
                  </a:lnTo>
                  <a:lnTo>
                    <a:pt x="11277600" y="0"/>
                  </a:lnTo>
                  <a:lnTo>
                    <a:pt x="11277600" y="9525"/>
                  </a:lnTo>
                  <a:lnTo>
                    <a:pt x="11277600" y="428625"/>
                  </a:lnTo>
                  <a:lnTo>
                    <a:pt x="11277600" y="438150"/>
                  </a:lnTo>
                  <a:lnTo>
                    <a:pt x="11268075" y="438150"/>
                  </a:lnTo>
                  <a:lnTo>
                    <a:pt x="9525" y="438150"/>
                  </a:lnTo>
                  <a:lnTo>
                    <a:pt x="0" y="438150"/>
                  </a:lnTo>
                  <a:lnTo>
                    <a:pt x="0" y="42862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428625"/>
                  </a:lnTo>
                  <a:lnTo>
                    <a:pt x="9525" y="428625"/>
                  </a:lnTo>
                  <a:lnTo>
                    <a:pt x="9525" y="419100"/>
                  </a:lnTo>
                  <a:lnTo>
                    <a:pt x="11268075" y="419100"/>
                  </a:lnTo>
                  <a:lnTo>
                    <a:pt x="11268075" y="428625"/>
                  </a:lnTo>
                  <a:lnTo>
                    <a:pt x="11258550" y="428625"/>
                  </a:lnTo>
                  <a:lnTo>
                    <a:pt x="11258550" y="9525"/>
                  </a:lnTo>
                  <a:lnTo>
                    <a:pt x="11268075" y="9525"/>
                  </a:lnTo>
                  <a:lnTo>
                    <a:pt x="1126807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15900" y="177800"/>
              <a:ext cx="619125" cy="209550"/>
            </a:xfrm>
            <a:custGeom>
              <a:avLst/>
              <a:gdLst/>
              <a:ahLst/>
              <a:cxnLst/>
              <a:rect r="r" b="b" t="t" l="l"/>
              <a:pathLst>
                <a:path h="209550" w="619125">
                  <a:moveTo>
                    <a:pt x="0" y="0"/>
                  </a:moveTo>
                  <a:lnTo>
                    <a:pt x="619125" y="0"/>
                  </a:lnTo>
                  <a:lnTo>
                    <a:pt x="619125" y="209550"/>
                  </a:lnTo>
                  <a:lnTo>
                    <a:pt x="0" y="20955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759769" y="727339"/>
            <a:ext cx="5084083" cy="772830"/>
            <a:chOff x="0" y="0"/>
            <a:chExt cx="5084089" cy="7728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16586" y="100202"/>
              <a:ext cx="4903982" cy="609088"/>
            </a:xfrm>
            <a:custGeom>
              <a:avLst/>
              <a:gdLst/>
              <a:ahLst/>
              <a:cxnLst/>
              <a:rect r="r" b="b" t="t" l="l"/>
              <a:pathLst>
                <a:path h="609088" w="4903982">
                  <a:moveTo>
                    <a:pt x="4888742" y="0"/>
                  </a:moveTo>
                  <a:lnTo>
                    <a:pt x="4841117" y="1651"/>
                  </a:lnTo>
                  <a:lnTo>
                    <a:pt x="4854706" y="391920"/>
                  </a:lnTo>
                  <a:lnTo>
                    <a:pt x="0" y="561464"/>
                  </a:lnTo>
                  <a:lnTo>
                    <a:pt x="1651" y="609088"/>
                  </a:lnTo>
                  <a:lnTo>
                    <a:pt x="4903982" y="437894"/>
                  </a:lnTo>
                  <a:lnTo>
                    <a:pt x="4888742" y="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63500" y="63500"/>
              <a:ext cx="4917571" cy="609088"/>
            </a:xfrm>
            <a:custGeom>
              <a:avLst/>
              <a:gdLst/>
              <a:ahLst/>
              <a:cxnLst/>
              <a:rect r="r" b="b" t="t" l="l"/>
              <a:pathLst>
                <a:path h="609088" w="4917571">
                  <a:moveTo>
                    <a:pt x="0" y="171194"/>
                  </a:moveTo>
                  <a:lnTo>
                    <a:pt x="4902331" y="0"/>
                  </a:lnTo>
                  <a:lnTo>
                    <a:pt x="4917572" y="437893"/>
                  </a:lnTo>
                  <a:lnTo>
                    <a:pt x="15240" y="6090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63500" y="63500"/>
              <a:ext cx="4917698" cy="609088"/>
            </a:xfrm>
            <a:custGeom>
              <a:avLst/>
              <a:gdLst/>
              <a:ahLst/>
              <a:cxnLst/>
              <a:rect r="r" b="b" t="t" l="l"/>
              <a:pathLst>
                <a:path h="609088" w="4917698">
                  <a:moveTo>
                    <a:pt x="14224" y="170687"/>
                  </a:moveTo>
                  <a:lnTo>
                    <a:pt x="4888107" y="508"/>
                  </a:lnTo>
                  <a:lnTo>
                    <a:pt x="4902331" y="0"/>
                  </a:lnTo>
                  <a:lnTo>
                    <a:pt x="4902839" y="14224"/>
                  </a:lnTo>
                  <a:lnTo>
                    <a:pt x="4917191" y="423542"/>
                  </a:lnTo>
                  <a:lnTo>
                    <a:pt x="4917698" y="437766"/>
                  </a:lnTo>
                  <a:lnTo>
                    <a:pt x="4903474" y="438274"/>
                  </a:lnTo>
                  <a:lnTo>
                    <a:pt x="29591" y="608580"/>
                  </a:lnTo>
                  <a:lnTo>
                    <a:pt x="15367" y="609088"/>
                  </a:lnTo>
                  <a:lnTo>
                    <a:pt x="14859" y="594864"/>
                  </a:lnTo>
                  <a:lnTo>
                    <a:pt x="508" y="185418"/>
                  </a:lnTo>
                  <a:lnTo>
                    <a:pt x="0" y="171194"/>
                  </a:lnTo>
                  <a:lnTo>
                    <a:pt x="14224" y="170687"/>
                  </a:lnTo>
                  <a:moveTo>
                    <a:pt x="15240" y="199261"/>
                  </a:moveTo>
                  <a:lnTo>
                    <a:pt x="14732" y="185037"/>
                  </a:lnTo>
                  <a:lnTo>
                    <a:pt x="28956" y="184529"/>
                  </a:lnTo>
                  <a:lnTo>
                    <a:pt x="43307" y="593848"/>
                  </a:lnTo>
                  <a:lnTo>
                    <a:pt x="29083" y="594356"/>
                  </a:lnTo>
                  <a:lnTo>
                    <a:pt x="28575" y="580132"/>
                  </a:lnTo>
                  <a:lnTo>
                    <a:pt x="4902458" y="409953"/>
                  </a:lnTo>
                  <a:lnTo>
                    <a:pt x="4902966" y="424177"/>
                  </a:lnTo>
                  <a:lnTo>
                    <a:pt x="4888742" y="424685"/>
                  </a:lnTo>
                  <a:lnTo>
                    <a:pt x="4874391" y="15239"/>
                  </a:lnTo>
                  <a:lnTo>
                    <a:pt x="4888615" y="14731"/>
                  </a:lnTo>
                  <a:lnTo>
                    <a:pt x="4889123" y="28955"/>
                  </a:lnTo>
                  <a:lnTo>
                    <a:pt x="15240" y="199261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162925" y="1619250"/>
            <a:ext cx="609600" cy="219075"/>
            <a:chOff x="0" y="0"/>
            <a:chExt cx="609600" cy="2190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9600" cy="219075"/>
            </a:xfrm>
            <a:custGeom>
              <a:avLst/>
              <a:gdLst/>
              <a:ahLst/>
              <a:cxnLst/>
              <a:rect r="r" b="b" t="t" l="l"/>
              <a:pathLst>
                <a:path h="219075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219075"/>
                  </a:lnTo>
                  <a:lnTo>
                    <a:pt x="0" y="219075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296275" y="5438775"/>
            <a:ext cx="3305175" cy="19050"/>
            <a:chOff x="0" y="0"/>
            <a:chExt cx="3305175" cy="190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305175" cy="19050"/>
            </a:xfrm>
            <a:custGeom>
              <a:avLst/>
              <a:gdLst/>
              <a:ahLst/>
              <a:cxnLst/>
              <a:rect r="r" b="b" t="t" l="l"/>
              <a:pathLst>
                <a:path h="19050" w="3305175">
                  <a:moveTo>
                    <a:pt x="0" y="0"/>
                  </a:moveTo>
                  <a:lnTo>
                    <a:pt x="3305175" y="0"/>
                  </a:lnTo>
                  <a:lnTo>
                    <a:pt x="330517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704850" y="6098934"/>
            <a:ext cx="429739" cy="1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b="true" sz="787" spc="48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RESULT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261299" y="1641234"/>
            <a:ext cx="415338" cy="1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b="true" sz="787" spc="56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3 · ACT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52450" y="383934"/>
            <a:ext cx="1128036" cy="1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b="true" sz="787" spc="63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OUR SOLUTION · 04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57200" y="581292"/>
            <a:ext cx="7985303" cy="986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7"/>
              </a:lnSpc>
            </a:pPr>
            <a:r>
              <a:rPr lang="en-US" sz="1746">
                <a:solidFill>
                  <a:srgbClr val="111111"/>
                </a:solidFill>
                <a:latin typeface="Archivo Black"/>
                <a:ea typeface="Archivo Black"/>
                <a:cs typeface="Archivo Black"/>
                <a:sym typeface="Archivo Black"/>
              </a:rPr>
              <a:t>THREE SCREENS.</a:t>
            </a:r>
          </a:p>
          <a:p>
            <a:pPr algn="l">
              <a:lnSpc>
                <a:spcPts val="5364"/>
              </a:lnSpc>
            </a:pPr>
            <a:r>
              <a:rPr lang="en-US" sz="3146">
                <a:solidFill>
                  <a:srgbClr val="16A34A"/>
                </a:solidFill>
                <a:latin typeface="Archivo Black"/>
                <a:ea typeface="Archivo Black"/>
                <a:cs typeface="Archivo Black"/>
                <a:sym typeface="Archivo Black"/>
              </a:rPr>
              <a:t>ONE CLEAR NEXT STEP.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52450" y="1641234"/>
            <a:ext cx="944061" cy="1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b="true" sz="787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1 · UNDERSTAND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406798" y="1641234"/>
            <a:ext cx="595970" cy="1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b="true" sz="787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2 · DECIDE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54960" y="1910553"/>
            <a:ext cx="31880" cy="17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b="true" sz="1125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57200" y="6491764"/>
            <a:ext cx="3509962" cy="10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4"/>
              </a:lnSpc>
            </a:pPr>
            <a:r>
              <a:rPr lang="en-US" b="true" sz="675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Screenshots: BijakMatch prototype, sample worker. First step order: PPT recognition 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984060" y="6491764"/>
            <a:ext cx="807539" cy="10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4"/>
              </a:lnSpc>
            </a:pPr>
            <a:r>
              <a:rPr lang="en-US" b="true" sz="675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 refresh rusty skills 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861493" y="6491764"/>
            <a:ext cx="372085" cy="10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4"/>
              </a:lnSpc>
            </a:pPr>
            <a:r>
              <a:rPr lang="en-US" b="true" sz="675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 fill gaps 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312007" y="6491764"/>
            <a:ext cx="738454" cy="10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4"/>
              </a:lnSpc>
            </a:pPr>
            <a:r>
              <a:rPr lang="en-US" b="true" sz="675" spc="0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 statutory licence.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898335" y="6492126"/>
            <a:ext cx="87440" cy="120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4"/>
              </a:lnSpc>
            </a:pPr>
            <a:r>
              <a:rPr lang="en-US" sz="675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775768" y="6492126"/>
            <a:ext cx="87440" cy="120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4"/>
              </a:lnSpc>
            </a:pPr>
            <a:r>
              <a:rPr lang="en-US" sz="675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226282" y="6492126"/>
            <a:ext cx="87440" cy="120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4"/>
              </a:lnSpc>
            </a:pPr>
            <a:r>
              <a:rPr lang="en-US" sz="675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044848" y="3526888"/>
            <a:ext cx="252603" cy="34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899349" y="3526888"/>
            <a:ext cx="252603" cy="34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90550" y="1910553"/>
            <a:ext cx="2186368" cy="17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b="true" sz="1125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"What</a:t>
            </a:r>
            <a:r>
              <a:rPr lang="en-US" b="true" sz="1125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 </a:t>
            </a:r>
            <a:r>
              <a:rPr lang="en-US" b="true" sz="1125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is</a:t>
            </a:r>
            <a:r>
              <a:rPr lang="en-US" b="true" sz="1125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 </a:t>
            </a:r>
            <a:r>
              <a:rPr lang="en-US" b="true" sz="1125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changing</a:t>
            </a:r>
            <a:r>
              <a:rPr lang="en-US" b="true" sz="1125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 </a:t>
            </a:r>
            <a:r>
              <a:rPr lang="en-US" b="true" sz="1125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in</a:t>
            </a:r>
            <a:r>
              <a:rPr lang="en-US" b="true" sz="1125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 </a:t>
            </a:r>
            <a:r>
              <a:rPr lang="en-US" b="true" sz="1125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my</a:t>
            </a:r>
            <a:r>
              <a:rPr lang="en-US" b="true" sz="1125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 </a:t>
            </a:r>
            <a:r>
              <a:rPr lang="en-US" b="true" sz="1125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job?"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444898" y="1910553"/>
            <a:ext cx="1721129" cy="17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b="true" sz="1125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"Stay,</a:t>
            </a:r>
            <a:r>
              <a:rPr lang="en-US" b="true" sz="1125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 </a:t>
            </a:r>
            <a:r>
              <a:rPr lang="en-US" b="true" sz="1125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Evolve</a:t>
            </a:r>
            <a:r>
              <a:rPr lang="en-US" b="true" sz="1125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 </a:t>
            </a:r>
            <a:r>
              <a:rPr lang="en-US" b="true" sz="1125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or</a:t>
            </a:r>
            <a:r>
              <a:rPr lang="en-US" b="true" sz="1125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 </a:t>
            </a:r>
            <a:r>
              <a:rPr lang="en-US" b="true" sz="1125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Pivot?"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8299399" y="1910553"/>
            <a:ext cx="1953263" cy="17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b="true" sz="1125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"What can I do this week?"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590550" y="5503088"/>
            <a:ext cx="145961" cy="172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→</a:t>
            </a:r>
            <a:r>
              <a:rPr lang="en-US" b="true" sz="900">
                <a:solidFill>
                  <a:srgbClr val="11111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444898" y="5503088"/>
            <a:ext cx="145961" cy="172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→</a:t>
            </a:r>
            <a:r>
              <a:rPr lang="en-US" b="true" sz="900">
                <a:solidFill>
                  <a:srgbClr val="11111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299399" y="5503088"/>
            <a:ext cx="145961" cy="172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→</a:t>
            </a:r>
            <a:r>
              <a:rPr lang="en-US" b="true" sz="900">
                <a:solidFill>
                  <a:srgbClr val="11111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33644" y="5515604"/>
            <a:ext cx="1819008" cy="13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1111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Verified, Hidden and Rusty skills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4588002" y="5515604"/>
            <a:ext cx="1797634" cy="13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1111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Explainable ranking for his state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8442503" y="5515604"/>
            <a:ext cx="1651064" cy="13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1111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Courses in a weekly calendar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62818" y="6107801"/>
            <a:ext cx="5883612" cy="14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b="true" sz="975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Career Transition Card:</a:t>
            </a:r>
            <a:r>
              <a:rPr lang="en-US" b="true" sz="975">
                <a:solidFill>
                  <a:srgbClr val="11111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chosen path · first step within 4 weeks · cost and time · missing licences</a:t>
            </a:r>
          </a:p>
        </p:txBody>
      </p:sp>
      <p:sp>
        <p:nvSpPr>
          <p:cNvPr name="TextBox 71" id="71"/>
          <p:cNvSpPr txBox="true"/>
          <p:nvPr/>
        </p:nvSpPr>
        <p:spPr>
          <a:xfrm rot="-120000">
            <a:off x="7048450" y="936113"/>
            <a:ext cx="4561561" cy="31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11111"/>
                </a:solidFill>
                <a:latin typeface="Archivo Black"/>
                <a:ea typeface="Archivo Black"/>
                <a:cs typeface="Archivo Black"/>
                <a:sym typeface="Archivo Black"/>
              </a:rPr>
              <a:t>CERTIFY FIRST. </a:t>
            </a:r>
            <a:r>
              <a:rPr lang="en-US" sz="1800">
                <a:solidFill>
                  <a:srgbClr val="DC2626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THEN FILL THE GAP.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7200" y="361950"/>
            <a:ext cx="904875" cy="219075"/>
            <a:chOff x="0" y="0"/>
            <a:chExt cx="904875" cy="219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4875" cy="219075"/>
            </a:xfrm>
            <a:custGeom>
              <a:avLst/>
              <a:gdLst/>
              <a:ahLst/>
              <a:cxnLst/>
              <a:rect r="r" b="b" t="t" l="l"/>
              <a:pathLst>
                <a:path h="219075" w="904875">
                  <a:moveTo>
                    <a:pt x="0" y="0"/>
                  </a:moveTo>
                  <a:lnTo>
                    <a:pt x="904875" y="0"/>
                  </a:lnTo>
                  <a:lnTo>
                    <a:pt x="904875" y="219075"/>
                  </a:lnTo>
                  <a:lnTo>
                    <a:pt x="0" y="219075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93697" y="1555747"/>
            <a:ext cx="5699122" cy="2222497"/>
            <a:chOff x="0" y="0"/>
            <a:chExt cx="5699125" cy="2222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5572125" cy="2095500"/>
            </a:xfrm>
            <a:custGeom>
              <a:avLst/>
              <a:gdLst/>
              <a:ahLst/>
              <a:cxnLst/>
              <a:rect r="r" b="b" t="t" l="l"/>
              <a:pathLst>
                <a:path h="2095500" w="5572125">
                  <a:moveTo>
                    <a:pt x="0" y="0"/>
                  </a:moveTo>
                  <a:lnTo>
                    <a:pt x="5572125" y="0"/>
                  </a:lnTo>
                  <a:lnTo>
                    <a:pt x="5572125" y="2095500"/>
                  </a:lnTo>
                  <a:lnTo>
                    <a:pt x="0" y="2095500"/>
                  </a:lnTo>
                  <a:close/>
                </a:path>
              </a:pathLst>
            </a:custGeom>
            <a:solidFill>
              <a:srgbClr val="E7F7EC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5572125" cy="2095500"/>
            </a:xfrm>
            <a:custGeom>
              <a:avLst/>
              <a:gdLst/>
              <a:ahLst/>
              <a:cxnLst/>
              <a:rect r="r" b="b" t="t" l="l"/>
              <a:pathLst>
                <a:path h="2095500" w="5572125">
                  <a:moveTo>
                    <a:pt x="9525" y="0"/>
                  </a:moveTo>
                  <a:lnTo>
                    <a:pt x="5562600" y="0"/>
                  </a:lnTo>
                  <a:lnTo>
                    <a:pt x="5572125" y="0"/>
                  </a:lnTo>
                  <a:lnTo>
                    <a:pt x="5572125" y="9525"/>
                  </a:lnTo>
                  <a:lnTo>
                    <a:pt x="5572125" y="2085975"/>
                  </a:lnTo>
                  <a:lnTo>
                    <a:pt x="5572125" y="2095500"/>
                  </a:lnTo>
                  <a:lnTo>
                    <a:pt x="5562600" y="2095500"/>
                  </a:lnTo>
                  <a:lnTo>
                    <a:pt x="9525" y="2095500"/>
                  </a:lnTo>
                  <a:lnTo>
                    <a:pt x="0" y="2095500"/>
                  </a:lnTo>
                  <a:lnTo>
                    <a:pt x="0" y="208597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2085975"/>
                  </a:lnTo>
                  <a:lnTo>
                    <a:pt x="9525" y="2085975"/>
                  </a:lnTo>
                  <a:lnTo>
                    <a:pt x="9525" y="2076450"/>
                  </a:lnTo>
                  <a:lnTo>
                    <a:pt x="5562600" y="2076450"/>
                  </a:lnTo>
                  <a:lnTo>
                    <a:pt x="5562600" y="2085975"/>
                  </a:lnTo>
                  <a:lnTo>
                    <a:pt x="5553075" y="2085975"/>
                  </a:lnTo>
                  <a:lnTo>
                    <a:pt x="5553075" y="9525"/>
                  </a:lnTo>
                  <a:lnTo>
                    <a:pt x="5562600" y="9525"/>
                  </a:lnTo>
                  <a:lnTo>
                    <a:pt x="5562600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099172" y="1555747"/>
            <a:ext cx="5699122" cy="2222497"/>
            <a:chOff x="0" y="0"/>
            <a:chExt cx="5699125" cy="2222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5572125" cy="2095500"/>
            </a:xfrm>
            <a:custGeom>
              <a:avLst/>
              <a:gdLst/>
              <a:ahLst/>
              <a:cxnLst/>
              <a:rect r="r" b="b" t="t" l="l"/>
              <a:pathLst>
                <a:path h="2095500" w="5572125">
                  <a:moveTo>
                    <a:pt x="0" y="0"/>
                  </a:moveTo>
                  <a:lnTo>
                    <a:pt x="5572125" y="0"/>
                  </a:lnTo>
                  <a:lnTo>
                    <a:pt x="5572125" y="2095500"/>
                  </a:lnTo>
                  <a:lnTo>
                    <a:pt x="0" y="20955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5572125" cy="2095500"/>
            </a:xfrm>
            <a:custGeom>
              <a:avLst/>
              <a:gdLst/>
              <a:ahLst/>
              <a:cxnLst/>
              <a:rect r="r" b="b" t="t" l="l"/>
              <a:pathLst>
                <a:path h="2095500" w="5572125">
                  <a:moveTo>
                    <a:pt x="9525" y="0"/>
                  </a:moveTo>
                  <a:lnTo>
                    <a:pt x="5562600" y="0"/>
                  </a:lnTo>
                  <a:lnTo>
                    <a:pt x="5572125" y="0"/>
                  </a:lnTo>
                  <a:lnTo>
                    <a:pt x="5572125" y="9525"/>
                  </a:lnTo>
                  <a:lnTo>
                    <a:pt x="5572125" y="2085975"/>
                  </a:lnTo>
                  <a:lnTo>
                    <a:pt x="5572125" y="2095500"/>
                  </a:lnTo>
                  <a:lnTo>
                    <a:pt x="5562600" y="2095500"/>
                  </a:lnTo>
                  <a:lnTo>
                    <a:pt x="9525" y="2095500"/>
                  </a:lnTo>
                  <a:lnTo>
                    <a:pt x="0" y="2095500"/>
                  </a:lnTo>
                  <a:lnTo>
                    <a:pt x="0" y="208597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2085975"/>
                  </a:lnTo>
                  <a:lnTo>
                    <a:pt x="9525" y="2085975"/>
                  </a:lnTo>
                  <a:lnTo>
                    <a:pt x="9525" y="2076450"/>
                  </a:lnTo>
                  <a:lnTo>
                    <a:pt x="5562600" y="2076450"/>
                  </a:lnTo>
                  <a:lnTo>
                    <a:pt x="5562600" y="2085975"/>
                  </a:lnTo>
                  <a:lnTo>
                    <a:pt x="5553075" y="2085975"/>
                  </a:lnTo>
                  <a:lnTo>
                    <a:pt x="5553075" y="9525"/>
                  </a:lnTo>
                  <a:lnTo>
                    <a:pt x="5562600" y="9525"/>
                  </a:lnTo>
                  <a:lnTo>
                    <a:pt x="5562600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3697" y="3784597"/>
            <a:ext cx="11404597" cy="2679697"/>
            <a:chOff x="0" y="0"/>
            <a:chExt cx="11404600" cy="2679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0" y="2397125"/>
              <a:ext cx="1619250" cy="209550"/>
            </a:xfrm>
            <a:custGeom>
              <a:avLst/>
              <a:gdLst/>
              <a:ahLst/>
              <a:cxnLst/>
              <a:rect r="r" b="b" t="t" l="l"/>
              <a:pathLst>
                <a:path h="209550" w="1619250">
                  <a:moveTo>
                    <a:pt x="0" y="0"/>
                  </a:moveTo>
                  <a:lnTo>
                    <a:pt x="1619250" y="0"/>
                  </a:lnTo>
                  <a:lnTo>
                    <a:pt x="1619250" y="209550"/>
                  </a:lnTo>
                  <a:lnTo>
                    <a:pt x="0" y="209550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758950" y="2378075"/>
              <a:ext cx="2590800" cy="238125"/>
            </a:xfrm>
            <a:custGeom>
              <a:avLst/>
              <a:gdLst/>
              <a:ahLst/>
              <a:cxnLst/>
              <a:rect r="r" b="b" t="t" l="l"/>
              <a:pathLst>
                <a:path h="238125" w="2590800">
                  <a:moveTo>
                    <a:pt x="0" y="0"/>
                  </a:moveTo>
                  <a:lnTo>
                    <a:pt x="2590800" y="0"/>
                  </a:lnTo>
                  <a:lnTo>
                    <a:pt x="2590800" y="238125"/>
                  </a:lnTo>
                  <a:lnTo>
                    <a:pt x="0" y="2381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758950" y="2378075"/>
              <a:ext cx="2590800" cy="238125"/>
            </a:xfrm>
            <a:custGeom>
              <a:avLst/>
              <a:gdLst/>
              <a:ahLst/>
              <a:cxnLst/>
              <a:rect r="r" b="b" t="t" l="l"/>
              <a:pathLst>
                <a:path h="238125" w="2590800">
                  <a:moveTo>
                    <a:pt x="9525" y="0"/>
                  </a:moveTo>
                  <a:lnTo>
                    <a:pt x="2581275" y="0"/>
                  </a:lnTo>
                  <a:lnTo>
                    <a:pt x="2590800" y="0"/>
                  </a:lnTo>
                  <a:lnTo>
                    <a:pt x="2590800" y="9525"/>
                  </a:lnTo>
                  <a:lnTo>
                    <a:pt x="2590800" y="228600"/>
                  </a:lnTo>
                  <a:lnTo>
                    <a:pt x="2590800" y="238125"/>
                  </a:lnTo>
                  <a:lnTo>
                    <a:pt x="2581275" y="238125"/>
                  </a:lnTo>
                  <a:lnTo>
                    <a:pt x="9525" y="238125"/>
                  </a:lnTo>
                  <a:lnTo>
                    <a:pt x="0" y="238125"/>
                  </a:lnTo>
                  <a:lnTo>
                    <a:pt x="0" y="228600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228600"/>
                  </a:lnTo>
                  <a:lnTo>
                    <a:pt x="9525" y="228600"/>
                  </a:lnTo>
                  <a:lnTo>
                    <a:pt x="9525" y="219075"/>
                  </a:lnTo>
                  <a:lnTo>
                    <a:pt x="2581275" y="219075"/>
                  </a:lnTo>
                  <a:lnTo>
                    <a:pt x="2581275" y="228600"/>
                  </a:lnTo>
                  <a:lnTo>
                    <a:pt x="2571750" y="228600"/>
                  </a:lnTo>
                  <a:lnTo>
                    <a:pt x="2571750" y="9525"/>
                  </a:lnTo>
                  <a:lnTo>
                    <a:pt x="2581275" y="9525"/>
                  </a:lnTo>
                  <a:lnTo>
                    <a:pt x="258127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425950" y="2378075"/>
              <a:ext cx="3181350" cy="238125"/>
            </a:xfrm>
            <a:custGeom>
              <a:avLst/>
              <a:gdLst/>
              <a:ahLst/>
              <a:cxnLst/>
              <a:rect r="r" b="b" t="t" l="l"/>
              <a:pathLst>
                <a:path h="238125" w="3181350">
                  <a:moveTo>
                    <a:pt x="0" y="0"/>
                  </a:moveTo>
                  <a:lnTo>
                    <a:pt x="3181350" y="0"/>
                  </a:lnTo>
                  <a:lnTo>
                    <a:pt x="3181350" y="238125"/>
                  </a:lnTo>
                  <a:lnTo>
                    <a:pt x="0" y="2381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4425950" y="2378075"/>
              <a:ext cx="3181350" cy="238125"/>
            </a:xfrm>
            <a:custGeom>
              <a:avLst/>
              <a:gdLst/>
              <a:ahLst/>
              <a:cxnLst/>
              <a:rect r="r" b="b" t="t" l="l"/>
              <a:pathLst>
                <a:path h="238125" w="3181350">
                  <a:moveTo>
                    <a:pt x="9525" y="0"/>
                  </a:moveTo>
                  <a:lnTo>
                    <a:pt x="3171825" y="0"/>
                  </a:lnTo>
                  <a:lnTo>
                    <a:pt x="3181350" y="0"/>
                  </a:lnTo>
                  <a:lnTo>
                    <a:pt x="3181350" y="9525"/>
                  </a:lnTo>
                  <a:lnTo>
                    <a:pt x="3181350" y="228600"/>
                  </a:lnTo>
                  <a:lnTo>
                    <a:pt x="3181350" y="238125"/>
                  </a:lnTo>
                  <a:lnTo>
                    <a:pt x="3171825" y="238125"/>
                  </a:lnTo>
                  <a:lnTo>
                    <a:pt x="9525" y="238125"/>
                  </a:lnTo>
                  <a:lnTo>
                    <a:pt x="0" y="238125"/>
                  </a:lnTo>
                  <a:lnTo>
                    <a:pt x="0" y="228600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228600"/>
                  </a:lnTo>
                  <a:lnTo>
                    <a:pt x="9525" y="228600"/>
                  </a:lnTo>
                  <a:lnTo>
                    <a:pt x="9525" y="219075"/>
                  </a:lnTo>
                  <a:lnTo>
                    <a:pt x="3171825" y="219075"/>
                  </a:lnTo>
                  <a:lnTo>
                    <a:pt x="3171825" y="228600"/>
                  </a:lnTo>
                  <a:lnTo>
                    <a:pt x="3162300" y="228600"/>
                  </a:lnTo>
                  <a:lnTo>
                    <a:pt x="3162300" y="9525"/>
                  </a:lnTo>
                  <a:lnTo>
                    <a:pt x="3171825" y="9525"/>
                  </a:lnTo>
                  <a:lnTo>
                    <a:pt x="31718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7683500" y="2378075"/>
              <a:ext cx="2686050" cy="238125"/>
            </a:xfrm>
            <a:custGeom>
              <a:avLst/>
              <a:gdLst/>
              <a:ahLst/>
              <a:cxnLst/>
              <a:rect r="r" b="b" t="t" l="l"/>
              <a:pathLst>
                <a:path h="238125" w="2686050">
                  <a:moveTo>
                    <a:pt x="0" y="0"/>
                  </a:moveTo>
                  <a:lnTo>
                    <a:pt x="2686050" y="0"/>
                  </a:lnTo>
                  <a:lnTo>
                    <a:pt x="2686050" y="238125"/>
                  </a:lnTo>
                  <a:lnTo>
                    <a:pt x="0" y="2381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7683500" y="2378075"/>
              <a:ext cx="2686050" cy="238125"/>
            </a:xfrm>
            <a:custGeom>
              <a:avLst/>
              <a:gdLst/>
              <a:ahLst/>
              <a:cxnLst/>
              <a:rect r="r" b="b" t="t" l="l"/>
              <a:pathLst>
                <a:path h="238125" w="2686050">
                  <a:moveTo>
                    <a:pt x="9525" y="0"/>
                  </a:moveTo>
                  <a:lnTo>
                    <a:pt x="2676525" y="0"/>
                  </a:lnTo>
                  <a:lnTo>
                    <a:pt x="2686050" y="0"/>
                  </a:lnTo>
                  <a:lnTo>
                    <a:pt x="2686050" y="9525"/>
                  </a:lnTo>
                  <a:lnTo>
                    <a:pt x="2686050" y="228600"/>
                  </a:lnTo>
                  <a:lnTo>
                    <a:pt x="2686050" y="238125"/>
                  </a:lnTo>
                  <a:lnTo>
                    <a:pt x="2676525" y="238125"/>
                  </a:lnTo>
                  <a:lnTo>
                    <a:pt x="9525" y="238125"/>
                  </a:lnTo>
                  <a:lnTo>
                    <a:pt x="0" y="238125"/>
                  </a:lnTo>
                  <a:lnTo>
                    <a:pt x="0" y="228600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228600"/>
                  </a:lnTo>
                  <a:lnTo>
                    <a:pt x="9525" y="228600"/>
                  </a:lnTo>
                  <a:lnTo>
                    <a:pt x="9525" y="219075"/>
                  </a:lnTo>
                  <a:lnTo>
                    <a:pt x="2676525" y="219075"/>
                  </a:lnTo>
                  <a:lnTo>
                    <a:pt x="2676525" y="228600"/>
                  </a:lnTo>
                  <a:lnTo>
                    <a:pt x="2667000" y="228600"/>
                  </a:lnTo>
                  <a:lnTo>
                    <a:pt x="2667000" y="9525"/>
                  </a:lnTo>
                  <a:lnTo>
                    <a:pt x="2676525" y="9525"/>
                  </a:lnTo>
                  <a:lnTo>
                    <a:pt x="26765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3500" y="63500"/>
              <a:ext cx="5572125" cy="2085975"/>
            </a:xfrm>
            <a:custGeom>
              <a:avLst/>
              <a:gdLst/>
              <a:ahLst/>
              <a:cxnLst/>
              <a:rect r="r" b="b" t="t" l="l"/>
              <a:pathLst>
                <a:path h="2085975" w="5572125">
                  <a:moveTo>
                    <a:pt x="0" y="0"/>
                  </a:moveTo>
                  <a:lnTo>
                    <a:pt x="5572125" y="0"/>
                  </a:lnTo>
                  <a:lnTo>
                    <a:pt x="5572125" y="2085975"/>
                  </a:lnTo>
                  <a:lnTo>
                    <a:pt x="0" y="20859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500" y="63500"/>
              <a:ext cx="5572125" cy="2085975"/>
            </a:xfrm>
            <a:custGeom>
              <a:avLst/>
              <a:gdLst/>
              <a:ahLst/>
              <a:cxnLst/>
              <a:rect r="r" b="b" t="t" l="l"/>
              <a:pathLst>
                <a:path h="2085975" w="5572125">
                  <a:moveTo>
                    <a:pt x="9525" y="0"/>
                  </a:moveTo>
                  <a:lnTo>
                    <a:pt x="5562600" y="0"/>
                  </a:lnTo>
                  <a:lnTo>
                    <a:pt x="5572125" y="0"/>
                  </a:lnTo>
                  <a:lnTo>
                    <a:pt x="5572125" y="9525"/>
                  </a:lnTo>
                  <a:lnTo>
                    <a:pt x="5572125" y="2076450"/>
                  </a:lnTo>
                  <a:lnTo>
                    <a:pt x="5572125" y="2085975"/>
                  </a:lnTo>
                  <a:lnTo>
                    <a:pt x="5562600" y="2085975"/>
                  </a:lnTo>
                  <a:lnTo>
                    <a:pt x="9525" y="2085975"/>
                  </a:lnTo>
                  <a:lnTo>
                    <a:pt x="0" y="2085975"/>
                  </a:lnTo>
                  <a:lnTo>
                    <a:pt x="0" y="2076450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2076450"/>
                  </a:lnTo>
                  <a:lnTo>
                    <a:pt x="9525" y="2076450"/>
                  </a:lnTo>
                  <a:lnTo>
                    <a:pt x="9525" y="2066925"/>
                  </a:lnTo>
                  <a:lnTo>
                    <a:pt x="5562600" y="2066925"/>
                  </a:lnTo>
                  <a:lnTo>
                    <a:pt x="5562600" y="2076450"/>
                  </a:lnTo>
                  <a:lnTo>
                    <a:pt x="5553075" y="2076450"/>
                  </a:lnTo>
                  <a:lnTo>
                    <a:pt x="5553075" y="9525"/>
                  </a:lnTo>
                  <a:lnTo>
                    <a:pt x="5562600" y="9525"/>
                  </a:lnTo>
                  <a:lnTo>
                    <a:pt x="5562600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5768975" y="63500"/>
              <a:ext cx="5572125" cy="2085975"/>
            </a:xfrm>
            <a:custGeom>
              <a:avLst/>
              <a:gdLst/>
              <a:ahLst/>
              <a:cxnLst/>
              <a:rect r="r" b="b" t="t" l="l"/>
              <a:pathLst>
                <a:path h="2085975" w="5572125">
                  <a:moveTo>
                    <a:pt x="0" y="0"/>
                  </a:moveTo>
                  <a:lnTo>
                    <a:pt x="5572125" y="0"/>
                  </a:lnTo>
                  <a:lnTo>
                    <a:pt x="5572125" y="2085975"/>
                  </a:lnTo>
                  <a:lnTo>
                    <a:pt x="0" y="2085975"/>
                  </a:lnTo>
                  <a:close/>
                </a:path>
              </a:pathLst>
            </a:custGeom>
            <a:solidFill>
              <a:srgbClr val="E7F7EC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5768975" y="63500"/>
              <a:ext cx="5572125" cy="2085975"/>
            </a:xfrm>
            <a:custGeom>
              <a:avLst/>
              <a:gdLst/>
              <a:ahLst/>
              <a:cxnLst/>
              <a:rect r="r" b="b" t="t" l="l"/>
              <a:pathLst>
                <a:path h="2085975" w="5572125">
                  <a:moveTo>
                    <a:pt x="9525" y="0"/>
                  </a:moveTo>
                  <a:lnTo>
                    <a:pt x="5562600" y="0"/>
                  </a:lnTo>
                  <a:lnTo>
                    <a:pt x="5572125" y="0"/>
                  </a:lnTo>
                  <a:lnTo>
                    <a:pt x="5572125" y="9525"/>
                  </a:lnTo>
                  <a:lnTo>
                    <a:pt x="5572125" y="2076450"/>
                  </a:lnTo>
                  <a:lnTo>
                    <a:pt x="5572125" y="2085975"/>
                  </a:lnTo>
                  <a:lnTo>
                    <a:pt x="5562600" y="2085975"/>
                  </a:lnTo>
                  <a:lnTo>
                    <a:pt x="9525" y="2085975"/>
                  </a:lnTo>
                  <a:lnTo>
                    <a:pt x="0" y="2085975"/>
                  </a:lnTo>
                  <a:lnTo>
                    <a:pt x="0" y="2076450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2076450"/>
                  </a:lnTo>
                  <a:lnTo>
                    <a:pt x="9525" y="2076450"/>
                  </a:lnTo>
                  <a:lnTo>
                    <a:pt x="9525" y="2066925"/>
                  </a:lnTo>
                  <a:lnTo>
                    <a:pt x="5562600" y="2066925"/>
                  </a:lnTo>
                  <a:lnTo>
                    <a:pt x="5562600" y="2076450"/>
                  </a:lnTo>
                  <a:lnTo>
                    <a:pt x="5553075" y="2076450"/>
                  </a:lnTo>
                  <a:lnTo>
                    <a:pt x="5553075" y="9525"/>
                  </a:lnTo>
                  <a:lnTo>
                    <a:pt x="5562600" y="9525"/>
                  </a:lnTo>
                  <a:lnTo>
                    <a:pt x="5562600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4004310" y="1716024"/>
              <a:ext cx="3485642" cy="559562"/>
            </a:xfrm>
            <a:custGeom>
              <a:avLst/>
              <a:gdLst/>
              <a:ahLst/>
              <a:cxnLst/>
              <a:rect r="r" b="b" t="t" l="l"/>
              <a:pathLst>
                <a:path h="559562" w="3485642">
                  <a:moveTo>
                    <a:pt x="3470529" y="0"/>
                  </a:moveTo>
                  <a:lnTo>
                    <a:pt x="3422904" y="1651"/>
                  </a:lnTo>
                  <a:lnTo>
                    <a:pt x="3436493" y="391922"/>
                  </a:lnTo>
                  <a:lnTo>
                    <a:pt x="0" y="511937"/>
                  </a:lnTo>
                  <a:lnTo>
                    <a:pt x="1651" y="559562"/>
                  </a:lnTo>
                  <a:lnTo>
                    <a:pt x="3485642" y="437896"/>
                  </a:lnTo>
                  <a:lnTo>
                    <a:pt x="3470402" y="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951351" y="1679194"/>
              <a:ext cx="3499231" cy="559562"/>
            </a:xfrm>
            <a:custGeom>
              <a:avLst/>
              <a:gdLst/>
              <a:ahLst/>
              <a:cxnLst/>
              <a:rect r="r" b="b" t="t" l="l"/>
              <a:pathLst>
                <a:path h="559562" w="3499231">
                  <a:moveTo>
                    <a:pt x="0" y="121666"/>
                  </a:moveTo>
                  <a:lnTo>
                    <a:pt x="3483991" y="0"/>
                  </a:lnTo>
                  <a:lnTo>
                    <a:pt x="3499231" y="437896"/>
                  </a:lnTo>
                  <a:lnTo>
                    <a:pt x="15240" y="5595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3951478" y="1679194"/>
              <a:ext cx="3499231" cy="559435"/>
            </a:xfrm>
            <a:custGeom>
              <a:avLst/>
              <a:gdLst/>
              <a:ahLst/>
              <a:cxnLst/>
              <a:rect r="r" b="b" t="t" l="l"/>
              <a:pathLst>
                <a:path h="559435" w="3499231">
                  <a:moveTo>
                    <a:pt x="14224" y="121158"/>
                  </a:moveTo>
                  <a:lnTo>
                    <a:pt x="3469640" y="508"/>
                  </a:lnTo>
                  <a:lnTo>
                    <a:pt x="3483864" y="0"/>
                  </a:lnTo>
                  <a:lnTo>
                    <a:pt x="3484372" y="14224"/>
                  </a:lnTo>
                  <a:lnTo>
                    <a:pt x="3498723" y="423545"/>
                  </a:lnTo>
                  <a:lnTo>
                    <a:pt x="3499231" y="437769"/>
                  </a:lnTo>
                  <a:lnTo>
                    <a:pt x="3485007" y="438277"/>
                  </a:lnTo>
                  <a:lnTo>
                    <a:pt x="29591" y="558927"/>
                  </a:lnTo>
                  <a:lnTo>
                    <a:pt x="15367" y="559435"/>
                  </a:lnTo>
                  <a:lnTo>
                    <a:pt x="14859" y="545211"/>
                  </a:lnTo>
                  <a:lnTo>
                    <a:pt x="508" y="135890"/>
                  </a:lnTo>
                  <a:lnTo>
                    <a:pt x="0" y="121666"/>
                  </a:lnTo>
                  <a:lnTo>
                    <a:pt x="14224" y="121158"/>
                  </a:lnTo>
                  <a:moveTo>
                    <a:pt x="15240" y="149733"/>
                  </a:moveTo>
                  <a:lnTo>
                    <a:pt x="14732" y="135509"/>
                  </a:lnTo>
                  <a:lnTo>
                    <a:pt x="28956" y="135001"/>
                  </a:lnTo>
                  <a:lnTo>
                    <a:pt x="43307" y="544322"/>
                  </a:lnTo>
                  <a:lnTo>
                    <a:pt x="29083" y="544830"/>
                  </a:lnTo>
                  <a:lnTo>
                    <a:pt x="28575" y="530606"/>
                  </a:lnTo>
                  <a:lnTo>
                    <a:pt x="3483991" y="409956"/>
                  </a:lnTo>
                  <a:lnTo>
                    <a:pt x="3484499" y="424180"/>
                  </a:lnTo>
                  <a:lnTo>
                    <a:pt x="3470275" y="424688"/>
                  </a:lnTo>
                  <a:lnTo>
                    <a:pt x="3455924" y="15367"/>
                  </a:lnTo>
                  <a:lnTo>
                    <a:pt x="3470148" y="14859"/>
                  </a:lnTo>
                  <a:lnTo>
                    <a:pt x="3470656" y="29083"/>
                  </a:lnTo>
                  <a:lnTo>
                    <a:pt x="15240" y="149733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52450" y="6203709"/>
            <a:ext cx="1451115" cy="1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b="true" sz="787" spc="58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WHAT OTHERS DON'T DO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52450" y="383934"/>
            <a:ext cx="722328" cy="1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b="true" sz="787" spc="63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WHY US · 05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57200" y="714642"/>
            <a:ext cx="4613386" cy="8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300">
                <a:solidFill>
                  <a:srgbClr val="111111"/>
                </a:solidFill>
                <a:latin typeface="Archivo Black"/>
                <a:ea typeface="Archivo Black"/>
                <a:cs typeface="Archivo Black"/>
                <a:sym typeface="Archivo Black"/>
              </a:rPr>
              <a:t>WHAT ONLY </a:t>
            </a:r>
            <a:r>
              <a:rPr lang="en-US" sz="3300">
                <a:solidFill>
                  <a:srgbClr val="16A34A"/>
                </a:solidFill>
                <a:latin typeface="Archivo Black"/>
                <a:ea typeface="Archivo Black"/>
                <a:cs typeface="Archivo Black"/>
                <a:sym typeface="Archivo Black"/>
              </a:rPr>
              <a:t>BIJAKMATCH DOES.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57200" y="6491764"/>
            <a:ext cx="2703071" cy="10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4"/>
              </a:lnSpc>
            </a:pPr>
            <a:r>
              <a:rPr lang="en-US" b="true" sz="675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Comparison from the ReRole Green proposal's competitor review.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268884" y="6199765"/>
            <a:ext cx="2410768" cy="138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b="true" sz="825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MyMAHIR: doesn't read your own certificates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937227" y="6199765"/>
            <a:ext cx="3007776" cy="138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b="true" sz="825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MGTC Green Jobs: no match reasons, no crowding check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190909" y="6199765"/>
            <a:ext cx="2505608" cy="138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b="true" sz="825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CV chatbots: can't read TVET skills, no sources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47700" y="2185149"/>
            <a:ext cx="970226" cy="962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>
                <a:solidFill>
                  <a:srgbClr val="16A34A"/>
                </a:solidFill>
                <a:latin typeface="Archivo Black"/>
                <a:ea typeface="Archivo Black"/>
                <a:cs typeface="Archivo Black"/>
                <a:sym typeface="Archivo Black"/>
              </a:rPr>
              <a:t>01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47700" y="4413999"/>
            <a:ext cx="970226" cy="962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>
                <a:solidFill>
                  <a:srgbClr val="16A34A"/>
                </a:solidFill>
                <a:latin typeface="Archivo Black"/>
                <a:ea typeface="Archivo Black"/>
                <a:cs typeface="Archivo Black"/>
                <a:sym typeface="Archivo Black"/>
              </a:rPr>
              <a:t>03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135876" y="4963478"/>
            <a:ext cx="49187" cy="198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353175" y="2185149"/>
            <a:ext cx="970226" cy="962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>
                <a:solidFill>
                  <a:srgbClr val="16A34A"/>
                </a:solidFill>
                <a:latin typeface="Archivo Black"/>
                <a:ea typeface="Archivo Black"/>
                <a:cs typeface="Archivo Black"/>
                <a:sym typeface="Archivo Black"/>
              </a:rPr>
              <a:t>02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879861" y="2772728"/>
            <a:ext cx="49187" cy="198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353175" y="4413999"/>
            <a:ext cx="1429045" cy="962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>
                <a:solidFill>
                  <a:srgbClr val="16A34A"/>
                </a:solidFill>
                <a:latin typeface="Archivo Black"/>
                <a:ea typeface="Archivo Black"/>
                <a:cs typeface="Archivo Black"/>
                <a:sym typeface="Archivo Black"/>
              </a:rPr>
              <a:t>04</a:t>
            </a:r>
            <a:r>
              <a:rPr lang="en-US" sz="5700">
                <a:solidFill>
                  <a:srgbClr val="111111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736969" y="2229898"/>
            <a:ext cx="3779425" cy="776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250">
                <a:solidFill>
                  <a:srgbClr val="111111"/>
                </a:solidFill>
                <a:latin typeface="Archivo Black"/>
                <a:ea typeface="Archivo Black"/>
                <a:cs typeface="Archivo Black"/>
                <a:sym typeface="Archivo Black"/>
              </a:rPr>
              <a:t>EVIDENCE BEYOND THE CV</a:t>
            </a:r>
          </a:p>
          <a:p>
            <a:pPr algn="l">
              <a:lnSpc>
                <a:spcPts val="1440"/>
              </a:lnSpc>
            </a:pP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Certificates</a:t>
            </a:r>
            <a:r>
              <a:rPr lang="en-US" b="true" sz="13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+</a:t>
            </a:r>
            <a:r>
              <a:rPr lang="en-US" b="true" sz="13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daily</a:t>
            </a:r>
            <a:r>
              <a:rPr lang="en-US" b="true" sz="13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work</a:t>
            </a:r>
            <a:r>
              <a:rPr lang="en-US" b="true" sz="13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log</a:t>
            </a:r>
            <a:r>
              <a:rPr lang="en-US" b="true" sz="13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+</a:t>
            </a:r>
            <a:r>
              <a:rPr lang="en-US" b="true" sz="13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shift</a:t>
            </a:r>
            <a:r>
              <a:rPr lang="en-US" b="true" sz="13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interview.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672753" y="2887028"/>
            <a:ext cx="49187" cy="198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736969" y="4544473"/>
            <a:ext cx="4113733" cy="39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11111"/>
                </a:solidFill>
                <a:latin typeface="Archivo Black"/>
                <a:ea typeface="Archivo Black"/>
                <a:cs typeface="Archivo Black"/>
                <a:sym typeface="Archivo Black"/>
              </a:rPr>
              <a:t>MARKET-AWARE CHOICES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718292" y="4963478"/>
            <a:ext cx="49187" cy="198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442444" y="2048923"/>
            <a:ext cx="2893371" cy="39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11111"/>
                </a:solidFill>
                <a:latin typeface="Archivo Black"/>
                <a:ea typeface="Archivo Black"/>
                <a:cs typeface="Archivo Black"/>
                <a:sym typeface="Archivo Black"/>
              </a:rPr>
              <a:t>SAME DATA, SAME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442444" y="2353723"/>
            <a:ext cx="1379506" cy="537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11111"/>
                </a:solidFill>
                <a:latin typeface="Archivo Black"/>
                <a:ea typeface="Archivo Black"/>
                <a:cs typeface="Archivo Black"/>
                <a:sym typeface="Archivo Black"/>
              </a:rPr>
              <a:t>ANSWER</a:t>
            </a:r>
            <a:r>
              <a:rPr lang="en-US" sz="2250">
                <a:solidFill>
                  <a:srgbClr val="1F2937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442444" y="4544473"/>
            <a:ext cx="363507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11111"/>
                </a:solidFill>
                <a:latin typeface="Archivo Black"/>
                <a:ea typeface="Archivo Black"/>
                <a:cs typeface="Archivo Black"/>
                <a:sym typeface="Archivo Black"/>
              </a:rPr>
              <a:t>APLAN THAT REPLANS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024774" y="4963478"/>
            <a:ext cx="49187" cy="198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736969" y="4963478"/>
            <a:ext cx="3887219" cy="198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Stay,</a:t>
            </a:r>
            <a:r>
              <a:rPr lang="en-US" b="true" sz="13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Evolve</a:t>
            </a:r>
            <a:r>
              <a:rPr lang="en-US" b="true" sz="13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or</a:t>
            </a:r>
            <a:r>
              <a:rPr lang="en-US" b="true" sz="13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Pivot,</a:t>
            </a:r>
            <a:r>
              <a:rPr lang="en-US" b="true" sz="13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with</a:t>
            </a:r>
            <a:r>
              <a:rPr lang="en-US" b="true" sz="13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job</a:t>
            </a:r>
            <a:r>
              <a:rPr lang="en-US" b="true" sz="13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crowding</a:t>
            </a:r>
            <a:r>
              <a:rPr lang="en-US" b="true" sz="13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shown.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442444" y="2772728"/>
            <a:ext cx="3858863" cy="198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Fixedrulesongovernmentopendata.AI never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442444" y="3010852"/>
            <a:ext cx="703021" cy="198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decides.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442444" y="4963478"/>
            <a:ext cx="3934349" cy="198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Missed</a:t>
            </a:r>
            <a:r>
              <a:rPr lang="en-US" b="true" sz="13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a</a:t>
            </a:r>
            <a:r>
              <a:rPr lang="en-US" b="true" sz="13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week</a:t>
            </a:r>
            <a:r>
              <a:rPr lang="en-US" b="true" sz="13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or</a:t>
            </a:r>
            <a:r>
              <a:rPr lang="en-US" b="true" sz="13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changed</a:t>
            </a:r>
            <a:r>
              <a:rPr lang="en-US" b="true" sz="13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your</a:t>
            </a:r>
            <a:r>
              <a:rPr lang="en-US" b="true" sz="13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mind?</a:t>
            </a:r>
            <a:r>
              <a:rPr lang="en-US" b="true" sz="13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One</a:t>
            </a:r>
            <a:r>
              <a:rPr lang="en-US" b="true" sz="13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3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rPr>
              <a:t>tap.</a:t>
            </a:r>
          </a:p>
        </p:txBody>
      </p:sp>
      <p:sp>
        <p:nvSpPr>
          <p:cNvPr name="TextBox 50" id="50"/>
          <p:cNvSpPr txBox="true"/>
          <p:nvPr/>
        </p:nvSpPr>
        <p:spPr>
          <a:xfrm rot="-120000">
            <a:off x="4570683" y="5584313"/>
            <a:ext cx="3116123" cy="31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11111"/>
                </a:solidFill>
                <a:latin typeface="Archivo Black"/>
                <a:ea typeface="Archivo Black"/>
                <a:cs typeface="Archivo Black"/>
                <a:sym typeface="Archivo Black"/>
              </a:rPr>
              <a:t>NOT ANOTHER </a:t>
            </a:r>
            <a:r>
              <a:rPr lang="en-US" sz="1800">
                <a:solidFill>
                  <a:srgbClr val="DC2626"/>
                </a:solidFill>
                <a:latin typeface="Archivo Black"/>
                <a:ea typeface="Archivo Black"/>
                <a:cs typeface="Archivo Black"/>
                <a:sym typeface="Archivo Black"/>
              </a:rPr>
              <a:t>CV TOOL.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7200" y="361950"/>
            <a:ext cx="1323975" cy="219075"/>
            <a:chOff x="0" y="0"/>
            <a:chExt cx="1323975" cy="219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3975" cy="219075"/>
            </a:xfrm>
            <a:custGeom>
              <a:avLst/>
              <a:gdLst/>
              <a:ahLst/>
              <a:cxnLst/>
              <a:rect r="r" b="b" t="t" l="l"/>
              <a:pathLst>
                <a:path h="219075" w="1323975">
                  <a:moveTo>
                    <a:pt x="0" y="0"/>
                  </a:moveTo>
                  <a:lnTo>
                    <a:pt x="1323975" y="0"/>
                  </a:lnTo>
                  <a:lnTo>
                    <a:pt x="1323975" y="219075"/>
                  </a:lnTo>
                  <a:lnTo>
                    <a:pt x="0" y="219075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93697" y="1555747"/>
            <a:ext cx="1984372" cy="2165347"/>
            <a:chOff x="0" y="0"/>
            <a:chExt cx="1984375" cy="2165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771525" cy="219075"/>
            </a:xfrm>
            <a:custGeom>
              <a:avLst/>
              <a:gdLst/>
              <a:ahLst/>
              <a:cxnLst/>
              <a:rect r="r" b="b" t="t" l="l"/>
              <a:pathLst>
                <a:path h="219075" w="771525">
                  <a:moveTo>
                    <a:pt x="0" y="0"/>
                  </a:moveTo>
                  <a:lnTo>
                    <a:pt x="771525" y="0"/>
                  </a:lnTo>
                  <a:lnTo>
                    <a:pt x="771525" y="219075"/>
                  </a:lnTo>
                  <a:lnTo>
                    <a:pt x="0" y="219075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358775"/>
              <a:ext cx="1857375" cy="514350"/>
            </a:xfrm>
            <a:custGeom>
              <a:avLst/>
              <a:gdLst/>
              <a:ahLst/>
              <a:cxnLst/>
              <a:rect r="r" b="b" t="t" l="l"/>
              <a:pathLst>
                <a:path h="514350" w="1857375">
                  <a:moveTo>
                    <a:pt x="0" y="0"/>
                  </a:moveTo>
                  <a:lnTo>
                    <a:pt x="1857375" y="0"/>
                  </a:lnTo>
                  <a:lnTo>
                    <a:pt x="1857375" y="514350"/>
                  </a:lnTo>
                  <a:lnTo>
                    <a:pt x="0" y="5143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358775"/>
              <a:ext cx="1857375" cy="514350"/>
            </a:xfrm>
            <a:custGeom>
              <a:avLst/>
              <a:gdLst/>
              <a:ahLst/>
              <a:cxnLst/>
              <a:rect r="r" b="b" t="t" l="l"/>
              <a:pathLst>
                <a:path h="514350" w="1857375">
                  <a:moveTo>
                    <a:pt x="9525" y="0"/>
                  </a:moveTo>
                  <a:lnTo>
                    <a:pt x="1847850" y="0"/>
                  </a:lnTo>
                  <a:lnTo>
                    <a:pt x="1857375" y="0"/>
                  </a:lnTo>
                  <a:lnTo>
                    <a:pt x="1857375" y="9525"/>
                  </a:lnTo>
                  <a:lnTo>
                    <a:pt x="1857375" y="504825"/>
                  </a:lnTo>
                  <a:lnTo>
                    <a:pt x="1857375" y="514350"/>
                  </a:lnTo>
                  <a:lnTo>
                    <a:pt x="1847850" y="514350"/>
                  </a:lnTo>
                  <a:lnTo>
                    <a:pt x="9525" y="514350"/>
                  </a:lnTo>
                  <a:lnTo>
                    <a:pt x="0" y="514350"/>
                  </a:lnTo>
                  <a:lnTo>
                    <a:pt x="0" y="50482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504825"/>
                  </a:lnTo>
                  <a:lnTo>
                    <a:pt x="9525" y="504825"/>
                  </a:lnTo>
                  <a:lnTo>
                    <a:pt x="9525" y="495300"/>
                  </a:lnTo>
                  <a:lnTo>
                    <a:pt x="1847850" y="495300"/>
                  </a:lnTo>
                  <a:lnTo>
                    <a:pt x="1847850" y="504825"/>
                  </a:lnTo>
                  <a:lnTo>
                    <a:pt x="1838325" y="504825"/>
                  </a:lnTo>
                  <a:lnTo>
                    <a:pt x="1838325" y="9525"/>
                  </a:lnTo>
                  <a:lnTo>
                    <a:pt x="1847850" y="9525"/>
                  </a:lnTo>
                  <a:lnTo>
                    <a:pt x="1847850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968375"/>
              <a:ext cx="1857375" cy="523875"/>
            </a:xfrm>
            <a:custGeom>
              <a:avLst/>
              <a:gdLst/>
              <a:ahLst/>
              <a:cxnLst/>
              <a:rect r="r" b="b" t="t" l="l"/>
              <a:pathLst>
                <a:path h="523875" w="1857375">
                  <a:moveTo>
                    <a:pt x="0" y="0"/>
                  </a:moveTo>
                  <a:lnTo>
                    <a:pt x="1857375" y="0"/>
                  </a:lnTo>
                  <a:lnTo>
                    <a:pt x="1857375" y="523875"/>
                  </a:lnTo>
                  <a:lnTo>
                    <a:pt x="0" y="5238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968375"/>
              <a:ext cx="1857375" cy="523875"/>
            </a:xfrm>
            <a:custGeom>
              <a:avLst/>
              <a:gdLst/>
              <a:ahLst/>
              <a:cxnLst/>
              <a:rect r="r" b="b" t="t" l="l"/>
              <a:pathLst>
                <a:path h="523875" w="1857375">
                  <a:moveTo>
                    <a:pt x="9525" y="0"/>
                  </a:moveTo>
                  <a:lnTo>
                    <a:pt x="1847850" y="0"/>
                  </a:lnTo>
                  <a:lnTo>
                    <a:pt x="1857375" y="0"/>
                  </a:lnTo>
                  <a:lnTo>
                    <a:pt x="1857375" y="9525"/>
                  </a:lnTo>
                  <a:lnTo>
                    <a:pt x="1857375" y="514350"/>
                  </a:lnTo>
                  <a:lnTo>
                    <a:pt x="1857375" y="523875"/>
                  </a:lnTo>
                  <a:lnTo>
                    <a:pt x="1847850" y="523875"/>
                  </a:lnTo>
                  <a:lnTo>
                    <a:pt x="9525" y="523875"/>
                  </a:lnTo>
                  <a:lnTo>
                    <a:pt x="0" y="523875"/>
                  </a:lnTo>
                  <a:lnTo>
                    <a:pt x="0" y="514350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514350"/>
                  </a:lnTo>
                  <a:lnTo>
                    <a:pt x="9525" y="514350"/>
                  </a:lnTo>
                  <a:lnTo>
                    <a:pt x="9525" y="504825"/>
                  </a:lnTo>
                  <a:lnTo>
                    <a:pt x="1847850" y="504825"/>
                  </a:lnTo>
                  <a:lnTo>
                    <a:pt x="1847850" y="514350"/>
                  </a:lnTo>
                  <a:lnTo>
                    <a:pt x="1838325" y="514350"/>
                  </a:lnTo>
                  <a:lnTo>
                    <a:pt x="1838325" y="9525"/>
                  </a:lnTo>
                  <a:lnTo>
                    <a:pt x="1847850" y="9525"/>
                  </a:lnTo>
                  <a:lnTo>
                    <a:pt x="1847850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1587500"/>
              <a:ext cx="1857375" cy="514350"/>
            </a:xfrm>
            <a:custGeom>
              <a:avLst/>
              <a:gdLst/>
              <a:ahLst/>
              <a:cxnLst/>
              <a:rect r="r" b="b" t="t" l="l"/>
              <a:pathLst>
                <a:path h="514350" w="1857375">
                  <a:moveTo>
                    <a:pt x="0" y="0"/>
                  </a:moveTo>
                  <a:lnTo>
                    <a:pt x="1857375" y="0"/>
                  </a:lnTo>
                  <a:lnTo>
                    <a:pt x="1857375" y="514350"/>
                  </a:lnTo>
                  <a:lnTo>
                    <a:pt x="0" y="5143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1587500"/>
              <a:ext cx="1857375" cy="514350"/>
            </a:xfrm>
            <a:custGeom>
              <a:avLst/>
              <a:gdLst/>
              <a:ahLst/>
              <a:cxnLst/>
              <a:rect r="r" b="b" t="t" l="l"/>
              <a:pathLst>
                <a:path h="514350" w="1857375">
                  <a:moveTo>
                    <a:pt x="9525" y="0"/>
                  </a:moveTo>
                  <a:lnTo>
                    <a:pt x="1847850" y="0"/>
                  </a:lnTo>
                  <a:lnTo>
                    <a:pt x="1857375" y="0"/>
                  </a:lnTo>
                  <a:lnTo>
                    <a:pt x="1857375" y="9525"/>
                  </a:lnTo>
                  <a:lnTo>
                    <a:pt x="1857375" y="504825"/>
                  </a:lnTo>
                  <a:lnTo>
                    <a:pt x="1857375" y="514350"/>
                  </a:lnTo>
                  <a:lnTo>
                    <a:pt x="1847850" y="514350"/>
                  </a:lnTo>
                  <a:lnTo>
                    <a:pt x="9525" y="514350"/>
                  </a:lnTo>
                  <a:lnTo>
                    <a:pt x="0" y="514350"/>
                  </a:lnTo>
                  <a:lnTo>
                    <a:pt x="0" y="50482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504825"/>
                  </a:lnTo>
                  <a:lnTo>
                    <a:pt x="9525" y="504825"/>
                  </a:lnTo>
                  <a:lnTo>
                    <a:pt x="9525" y="495300"/>
                  </a:lnTo>
                  <a:lnTo>
                    <a:pt x="1847850" y="495300"/>
                  </a:lnTo>
                  <a:lnTo>
                    <a:pt x="1847850" y="504825"/>
                  </a:lnTo>
                  <a:lnTo>
                    <a:pt x="1838325" y="504825"/>
                  </a:lnTo>
                  <a:lnTo>
                    <a:pt x="1838325" y="9525"/>
                  </a:lnTo>
                  <a:lnTo>
                    <a:pt x="1847850" y="9525"/>
                  </a:lnTo>
                  <a:lnTo>
                    <a:pt x="1847850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41572" y="1555747"/>
            <a:ext cx="2546347" cy="3403597"/>
            <a:chOff x="0" y="0"/>
            <a:chExt cx="2546350" cy="3403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885825" cy="219075"/>
            </a:xfrm>
            <a:custGeom>
              <a:avLst/>
              <a:gdLst/>
              <a:ahLst/>
              <a:cxnLst/>
              <a:rect r="r" b="b" t="t" l="l"/>
              <a:pathLst>
                <a:path h="219075" w="885825">
                  <a:moveTo>
                    <a:pt x="0" y="0"/>
                  </a:moveTo>
                  <a:lnTo>
                    <a:pt x="885825" y="0"/>
                  </a:lnTo>
                  <a:lnTo>
                    <a:pt x="885825" y="219075"/>
                  </a:lnTo>
                  <a:lnTo>
                    <a:pt x="0" y="219075"/>
                  </a:ln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358775"/>
              <a:ext cx="2419350" cy="514350"/>
            </a:xfrm>
            <a:custGeom>
              <a:avLst/>
              <a:gdLst/>
              <a:ahLst/>
              <a:cxnLst/>
              <a:rect r="r" b="b" t="t" l="l"/>
              <a:pathLst>
                <a:path h="514350" w="2419350">
                  <a:moveTo>
                    <a:pt x="0" y="0"/>
                  </a:moveTo>
                  <a:lnTo>
                    <a:pt x="2419350" y="0"/>
                  </a:lnTo>
                  <a:lnTo>
                    <a:pt x="2419350" y="514350"/>
                  </a:lnTo>
                  <a:lnTo>
                    <a:pt x="0" y="514350"/>
                  </a:lnTo>
                  <a:close/>
                </a:path>
              </a:pathLst>
            </a:custGeom>
            <a:solidFill>
              <a:srgbClr val="E7F7EC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358775"/>
              <a:ext cx="2419350" cy="514350"/>
            </a:xfrm>
            <a:custGeom>
              <a:avLst/>
              <a:gdLst/>
              <a:ahLst/>
              <a:cxnLst/>
              <a:rect r="r" b="b" t="t" l="l"/>
              <a:pathLst>
                <a:path h="514350" w="2419350">
                  <a:moveTo>
                    <a:pt x="9525" y="0"/>
                  </a:moveTo>
                  <a:lnTo>
                    <a:pt x="2409825" y="0"/>
                  </a:lnTo>
                  <a:lnTo>
                    <a:pt x="2419350" y="0"/>
                  </a:lnTo>
                  <a:lnTo>
                    <a:pt x="2419350" y="9525"/>
                  </a:lnTo>
                  <a:lnTo>
                    <a:pt x="2419350" y="504825"/>
                  </a:lnTo>
                  <a:lnTo>
                    <a:pt x="2419350" y="514350"/>
                  </a:lnTo>
                  <a:lnTo>
                    <a:pt x="2409825" y="514350"/>
                  </a:lnTo>
                  <a:lnTo>
                    <a:pt x="9525" y="514350"/>
                  </a:lnTo>
                  <a:lnTo>
                    <a:pt x="0" y="514350"/>
                  </a:lnTo>
                  <a:lnTo>
                    <a:pt x="0" y="50482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504825"/>
                  </a:lnTo>
                  <a:lnTo>
                    <a:pt x="9525" y="504825"/>
                  </a:lnTo>
                  <a:lnTo>
                    <a:pt x="9525" y="495300"/>
                  </a:lnTo>
                  <a:lnTo>
                    <a:pt x="2409825" y="495300"/>
                  </a:lnTo>
                  <a:lnTo>
                    <a:pt x="2409825" y="504825"/>
                  </a:lnTo>
                  <a:lnTo>
                    <a:pt x="2400300" y="504825"/>
                  </a:lnTo>
                  <a:lnTo>
                    <a:pt x="2400300" y="9525"/>
                  </a:lnTo>
                  <a:lnTo>
                    <a:pt x="2409825" y="9525"/>
                  </a:lnTo>
                  <a:lnTo>
                    <a:pt x="24098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500" y="968375"/>
              <a:ext cx="2419350" cy="523875"/>
            </a:xfrm>
            <a:custGeom>
              <a:avLst/>
              <a:gdLst/>
              <a:ahLst/>
              <a:cxnLst/>
              <a:rect r="r" b="b" t="t" l="l"/>
              <a:pathLst>
                <a:path h="523875" w="2419350">
                  <a:moveTo>
                    <a:pt x="0" y="0"/>
                  </a:moveTo>
                  <a:lnTo>
                    <a:pt x="2419350" y="0"/>
                  </a:lnTo>
                  <a:lnTo>
                    <a:pt x="2419350" y="523875"/>
                  </a:lnTo>
                  <a:lnTo>
                    <a:pt x="0" y="523875"/>
                  </a:lnTo>
                  <a:close/>
                </a:path>
              </a:pathLst>
            </a:custGeom>
            <a:solidFill>
              <a:srgbClr val="E7F7EC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3500" y="968375"/>
              <a:ext cx="2419350" cy="523875"/>
            </a:xfrm>
            <a:custGeom>
              <a:avLst/>
              <a:gdLst/>
              <a:ahLst/>
              <a:cxnLst/>
              <a:rect r="r" b="b" t="t" l="l"/>
              <a:pathLst>
                <a:path h="523875" w="2419350">
                  <a:moveTo>
                    <a:pt x="9525" y="0"/>
                  </a:moveTo>
                  <a:lnTo>
                    <a:pt x="2409825" y="0"/>
                  </a:lnTo>
                  <a:lnTo>
                    <a:pt x="2419350" y="0"/>
                  </a:lnTo>
                  <a:lnTo>
                    <a:pt x="2419350" y="9525"/>
                  </a:lnTo>
                  <a:lnTo>
                    <a:pt x="2419350" y="514350"/>
                  </a:lnTo>
                  <a:lnTo>
                    <a:pt x="2419350" y="523875"/>
                  </a:lnTo>
                  <a:lnTo>
                    <a:pt x="2409825" y="523875"/>
                  </a:lnTo>
                  <a:lnTo>
                    <a:pt x="9525" y="523875"/>
                  </a:lnTo>
                  <a:lnTo>
                    <a:pt x="0" y="523875"/>
                  </a:lnTo>
                  <a:lnTo>
                    <a:pt x="0" y="514350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514350"/>
                  </a:lnTo>
                  <a:lnTo>
                    <a:pt x="9525" y="514350"/>
                  </a:lnTo>
                  <a:lnTo>
                    <a:pt x="9525" y="504825"/>
                  </a:lnTo>
                  <a:lnTo>
                    <a:pt x="2409825" y="504825"/>
                  </a:lnTo>
                  <a:lnTo>
                    <a:pt x="2409825" y="514350"/>
                  </a:lnTo>
                  <a:lnTo>
                    <a:pt x="2400300" y="514350"/>
                  </a:lnTo>
                  <a:lnTo>
                    <a:pt x="2400300" y="9525"/>
                  </a:lnTo>
                  <a:lnTo>
                    <a:pt x="2409825" y="9525"/>
                  </a:lnTo>
                  <a:lnTo>
                    <a:pt x="24098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3500" y="1587500"/>
              <a:ext cx="2419350" cy="514350"/>
            </a:xfrm>
            <a:custGeom>
              <a:avLst/>
              <a:gdLst/>
              <a:ahLst/>
              <a:cxnLst/>
              <a:rect r="r" b="b" t="t" l="l"/>
              <a:pathLst>
                <a:path h="514350" w="2419350">
                  <a:moveTo>
                    <a:pt x="0" y="0"/>
                  </a:moveTo>
                  <a:lnTo>
                    <a:pt x="2419350" y="0"/>
                  </a:lnTo>
                  <a:lnTo>
                    <a:pt x="2419350" y="514350"/>
                  </a:lnTo>
                  <a:lnTo>
                    <a:pt x="0" y="514350"/>
                  </a:lnTo>
                  <a:close/>
                </a:path>
              </a:pathLst>
            </a:custGeom>
            <a:solidFill>
              <a:srgbClr val="E7F7EC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500" y="1587500"/>
              <a:ext cx="2419350" cy="514350"/>
            </a:xfrm>
            <a:custGeom>
              <a:avLst/>
              <a:gdLst/>
              <a:ahLst/>
              <a:cxnLst/>
              <a:rect r="r" b="b" t="t" l="l"/>
              <a:pathLst>
                <a:path h="514350" w="2419350">
                  <a:moveTo>
                    <a:pt x="9525" y="0"/>
                  </a:moveTo>
                  <a:lnTo>
                    <a:pt x="2409825" y="0"/>
                  </a:lnTo>
                  <a:lnTo>
                    <a:pt x="2419350" y="0"/>
                  </a:lnTo>
                  <a:lnTo>
                    <a:pt x="2419350" y="9525"/>
                  </a:lnTo>
                  <a:lnTo>
                    <a:pt x="2419350" y="504825"/>
                  </a:lnTo>
                  <a:lnTo>
                    <a:pt x="2419350" y="514350"/>
                  </a:lnTo>
                  <a:lnTo>
                    <a:pt x="2409825" y="514350"/>
                  </a:lnTo>
                  <a:lnTo>
                    <a:pt x="9525" y="514350"/>
                  </a:lnTo>
                  <a:lnTo>
                    <a:pt x="0" y="514350"/>
                  </a:lnTo>
                  <a:lnTo>
                    <a:pt x="0" y="50482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504825"/>
                  </a:lnTo>
                  <a:lnTo>
                    <a:pt x="9525" y="504825"/>
                  </a:lnTo>
                  <a:lnTo>
                    <a:pt x="9525" y="495300"/>
                  </a:lnTo>
                  <a:lnTo>
                    <a:pt x="2409825" y="495300"/>
                  </a:lnTo>
                  <a:lnTo>
                    <a:pt x="2409825" y="504825"/>
                  </a:lnTo>
                  <a:lnTo>
                    <a:pt x="2400300" y="504825"/>
                  </a:lnTo>
                  <a:lnTo>
                    <a:pt x="2400300" y="9525"/>
                  </a:lnTo>
                  <a:lnTo>
                    <a:pt x="2409825" y="9525"/>
                  </a:lnTo>
                  <a:lnTo>
                    <a:pt x="24098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63500" y="2197100"/>
              <a:ext cx="2419350" cy="523875"/>
            </a:xfrm>
            <a:custGeom>
              <a:avLst/>
              <a:gdLst/>
              <a:ahLst/>
              <a:cxnLst/>
              <a:rect r="r" b="b" t="t" l="l"/>
              <a:pathLst>
                <a:path h="523875" w="2419350">
                  <a:moveTo>
                    <a:pt x="0" y="0"/>
                  </a:moveTo>
                  <a:lnTo>
                    <a:pt x="2419350" y="0"/>
                  </a:lnTo>
                  <a:lnTo>
                    <a:pt x="2419350" y="523875"/>
                  </a:lnTo>
                  <a:lnTo>
                    <a:pt x="0" y="523875"/>
                  </a:lnTo>
                  <a:close/>
                </a:path>
              </a:pathLst>
            </a:custGeom>
            <a:solidFill>
              <a:srgbClr val="E7F7EC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63500" y="2197100"/>
              <a:ext cx="2419350" cy="523875"/>
            </a:xfrm>
            <a:custGeom>
              <a:avLst/>
              <a:gdLst/>
              <a:ahLst/>
              <a:cxnLst/>
              <a:rect r="r" b="b" t="t" l="l"/>
              <a:pathLst>
                <a:path h="523875" w="2419350">
                  <a:moveTo>
                    <a:pt x="9525" y="0"/>
                  </a:moveTo>
                  <a:lnTo>
                    <a:pt x="2409825" y="0"/>
                  </a:lnTo>
                  <a:lnTo>
                    <a:pt x="2419350" y="0"/>
                  </a:lnTo>
                  <a:lnTo>
                    <a:pt x="2419350" y="9525"/>
                  </a:lnTo>
                  <a:lnTo>
                    <a:pt x="2419350" y="514350"/>
                  </a:lnTo>
                  <a:lnTo>
                    <a:pt x="2419350" y="523875"/>
                  </a:lnTo>
                  <a:lnTo>
                    <a:pt x="2409825" y="523875"/>
                  </a:lnTo>
                  <a:lnTo>
                    <a:pt x="9525" y="523875"/>
                  </a:lnTo>
                  <a:lnTo>
                    <a:pt x="0" y="523875"/>
                  </a:lnTo>
                  <a:lnTo>
                    <a:pt x="0" y="514350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514350"/>
                  </a:lnTo>
                  <a:lnTo>
                    <a:pt x="9525" y="514350"/>
                  </a:lnTo>
                  <a:lnTo>
                    <a:pt x="9525" y="504825"/>
                  </a:lnTo>
                  <a:lnTo>
                    <a:pt x="2409825" y="504825"/>
                  </a:lnTo>
                  <a:lnTo>
                    <a:pt x="2409825" y="514350"/>
                  </a:lnTo>
                  <a:lnTo>
                    <a:pt x="2400300" y="514350"/>
                  </a:lnTo>
                  <a:lnTo>
                    <a:pt x="2400300" y="9525"/>
                  </a:lnTo>
                  <a:lnTo>
                    <a:pt x="2409825" y="9525"/>
                  </a:lnTo>
                  <a:lnTo>
                    <a:pt x="24098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3500" y="2816225"/>
              <a:ext cx="2419350" cy="523875"/>
            </a:xfrm>
            <a:custGeom>
              <a:avLst/>
              <a:gdLst/>
              <a:ahLst/>
              <a:cxnLst/>
              <a:rect r="r" b="b" t="t" l="l"/>
              <a:pathLst>
                <a:path h="523875" w="2419350">
                  <a:moveTo>
                    <a:pt x="0" y="0"/>
                  </a:moveTo>
                  <a:lnTo>
                    <a:pt x="2419350" y="0"/>
                  </a:lnTo>
                  <a:lnTo>
                    <a:pt x="2419350" y="523875"/>
                  </a:lnTo>
                  <a:lnTo>
                    <a:pt x="0" y="523875"/>
                  </a:lnTo>
                  <a:close/>
                </a:path>
              </a:pathLst>
            </a:custGeom>
            <a:solidFill>
              <a:srgbClr val="E7F7EC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3500" y="2816225"/>
              <a:ext cx="2419350" cy="523875"/>
            </a:xfrm>
            <a:custGeom>
              <a:avLst/>
              <a:gdLst/>
              <a:ahLst/>
              <a:cxnLst/>
              <a:rect r="r" b="b" t="t" l="l"/>
              <a:pathLst>
                <a:path h="523875" w="2419350">
                  <a:moveTo>
                    <a:pt x="9525" y="0"/>
                  </a:moveTo>
                  <a:lnTo>
                    <a:pt x="2409825" y="0"/>
                  </a:lnTo>
                  <a:lnTo>
                    <a:pt x="2419350" y="0"/>
                  </a:lnTo>
                  <a:lnTo>
                    <a:pt x="2419350" y="9525"/>
                  </a:lnTo>
                  <a:lnTo>
                    <a:pt x="2419350" y="514350"/>
                  </a:lnTo>
                  <a:lnTo>
                    <a:pt x="2419350" y="523875"/>
                  </a:lnTo>
                  <a:lnTo>
                    <a:pt x="2409825" y="523875"/>
                  </a:lnTo>
                  <a:lnTo>
                    <a:pt x="9525" y="523875"/>
                  </a:lnTo>
                  <a:lnTo>
                    <a:pt x="0" y="523875"/>
                  </a:lnTo>
                  <a:lnTo>
                    <a:pt x="0" y="514350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514350"/>
                  </a:lnTo>
                  <a:lnTo>
                    <a:pt x="9525" y="514350"/>
                  </a:lnTo>
                  <a:lnTo>
                    <a:pt x="9525" y="504825"/>
                  </a:lnTo>
                  <a:lnTo>
                    <a:pt x="2409825" y="504825"/>
                  </a:lnTo>
                  <a:lnTo>
                    <a:pt x="2409825" y="514350"/>
                  </a:lnTo>
                  <a:lnTo>
                    <a:pt x="2400300" y="514350"/>
                  </a:lnTo>
                  <a:lnTo>
                    <a:pt x="2400300" y="9525"/>
                  </a:lnTo>
                  <a:lnTo>
                    <a:pt x="2409825" y="9525"/>
                  </a:lnTo>
                  <a:lnTo>
                    <a:pt x="24098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051422" y="1555747"/>
            <a:ext cx="2546347" cy="3536947"/>
            <a:chOff x="0" y="0"/>
            <a:chExt cx="2546350" cy="35369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3500" y="63500"/>
              <a:ext cx="2066925" cy="219075"/>
            </a:xfrm>
            <a:custGeom>
              <a:avLst/>
              <a:gdLst/>
              <a:ahLst/>
              <a:cxnLst/>
              <a:rect r="r" b="b" t="t" l="l"/>
              <a:pathLst>
                <a:path h="219075" w="2066925">
                  <a:moveTo>
                    <a:pt x="0" y="0"/>
                  </a:moveTo>
                  <a:lnTo>
                    <a:pt x="2066925" y="0"/>
                  </a:lnTo>
                  <a:lnTo>
                    <a:pt x="2066925" y="219075"/>
                  </a:lnTo>
                  <a:lnTo>
                    <a:pt x="0" y="219075"/>
                  </a:ln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63500" y="358775"/>
              <a:ext cx="2419350" cy="657225"/>
            </a:xfrm>
            <a:custGeom>
              <a:avLst/>
              <a:gdLst/>
              <a:ahLst/>
              <a:cxnLst/>
              <a:rect r="r" b="b" t="t" l="l"/>
              <a:pathLst>
                <a:path h="657225" w="2419350">
                  <a:moveTo>
                    <a:pt x="0" y="0"/>
                  </a:moveTo>
                  <a:lnTo>
                    <a:pt x="2419350" y="0"/>
                  </a:lnTo>
                  <a:lnTo>
                    <a:pt x="2419350" y="657225"/>
                  </a:lnTo>
                  <a:lnTo>
                    <a:pt x="0" y="6572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63500" y="358775"/>
              <a:ext cx="2419350" cy="657225"/>
            </a:xfrm>
            <a:custGeom>
              <a:avLst/>
              <a:gdLst/>
              <a:ahLst/>
              <a:cxnLst/>
              <a:rect r="r" b="b" t="t" l="l"/>
              <a:pathLst>
                <a:path h="657225" w="2419350">
                  <a:moveTo>
                    <a:pt x="9525" y="0"/>
                  </a:moveTo>
                  <a:lnTo>
                    <a:pt x="2409825" y="0"/>
                  </a:lnTo>
                  <a:lnTo>
                    <a:pt x="2419350" y="0"/>
                  </a:lnTo>
                  <a:lnTo>
                    <a:pt x="2419350" y="9525"/>
                  </a:lnTo>
                  <a:lnTo>
                    <a:pt x="2419350" y="647700"/>
                  </a:lnTo>
                  <a:lnTo>
                    <a:pt x="2419350" y="657225"/>
                  </a:lnTo>
                  <a:lnTo>
                    <a:pt x="2409825" y="657225"/>
                  </a:lnTo>
                  <a:lnTo>
                    <a:pt x="9525" y="657225"/>
                  </a:lnTo>
                  <a:lnTo>
                    <a:pt x="0" y="657225"/>
                  </a:lnTo>
                  <a:lnTo>
                    <a:pt x="0" y="647700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647700"/>
                  </a:lnTo>
                  <a:lnTo>
                    <a:pt x="9525" y="647700"/>
                  </a:lnTo>
                  <a:lnTo>
                    <a:pt x="9525" y="638175"/>
                  </a:lnTo>
                  <a:lnTo>
                    <a:pt x="2409825" y="638175"/>
                  </a:lnTo>
                  <a:lnTo>
                    <a:pt x="2409825" y="647700"/>
                  </a:lnTo>
                  <a:lnTo>
                    <a:pt x="2400300" y="647700"/>
                  </a:lnTo>
                  <a:lnTo>
                    <a:pt x="2400300" y="9525"/>
                  </a:lnTo>
                  <a:lnTo>
                    <a:pt x="2409825" y="9525"/>
                  </a:lnTo>
                  <a:lnTo>
                    <a:pt x="24098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63500" y="1111250"/>
              <a:ext cx="2419350" cy="514350"/>
            </a:xfrm>
            <a:custGeom>
              <a:avLst/>
              <a:gdLst/>
              <a:ahLst/>
              <a:cxnLst/>
              <a:rect r="r" b="b" t="t" l="l"/>
              <a:pathLst>
                <a:path h="514350" w="2419350">
                  <a:moveTo>
                    <a:pt x="0" y="0"/>
                  </a:moveTo>
                  <a:lnTo>
                    <a:pt x="2419350" y="0"/>
                  </a:lnTo>
                  <a:lnTo>
                    <a:pt x="2419350" y="514350"/>
                  </a:lnTo>
                  <a:lnTo>
                    <a:pt x="0" y="5143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63500" y="1111250"/>
              <a:ext cx="2419350" cy="514350"/>
            </a:xfrm>
            <a:custGeom>
              <a:avLst/>
              <a:gdLst/>
              <a:ahLst/>
              <a:cxnLst/>
              <a:rect r="r" b="b" t="t" l="l"/>
              <a:pathLst>
                <a:path h="514350" w="2419350">
                  <a:moveTo>
                    <a:pt x="9525" y="0"/>
                  </a:moveTo>
                  <a:lnTo>
                    <a:pt x="2409825" y="0"/>
                  </a:lnTo>
                  <a:lnTo>
                    <a:pt x="2419350" y="0"/>
                  </a:lnTo>
                  <a:lnTo>
                    <a:pt x="2419350" y="9525"/>
                  </a:lnTo>
                  <a:lnTo>
                    <a:pt x="2419350" y="504825"/>
                  </a:lnTo>
                  <a:lnTo>
                    <a:pt x="2419350" y="514350"/>
                  </a:lnTo>
                  <a:lnTo>
                    <a:pt x="2409825" y="514350"/>
                  </a:lnTo>
                  <a:lnTo>
                    <a:pt x="9525" y="514350"/>
                  </a:lnTo>
                  <a:lnTo>
                    <a:pt x="0" y="514350"/>
                  </a:lnTo>
                  <a:lnTo>
                    <a:pt x="0" y="50482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504825"/>
                  </a:lnTo>
                  <a:lnTo>
                    <a:pt x="9525" y="504825"/>
                  </a:lnTo>
                  <a:lnTo>
                    <a:pt x="9525" y="495300"/>
                  </a:lnTo>
                  <a:lnTo>
                    <a:pt x="2409825" y="495300"/>
                  </a:lnTo>
                  <a:lnTo>
                    <a:pt x="2409825" y="504825"/>
                  </a:lnTo>
                  <a:lnTo>
                    <a:pt x="2400300" y="504825"/>
                  </a:lnTo>
                  <a:lnTo>
                    <a:pt x="2400300" y="9525"/>
                  </a:lnTo>
                  <a:lnTo>
                    <a:pt x="2409825" y="9525"/>
                  </a:lnTo>
                  <a:lnTo>
                    <a:pt x="24098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63500" y="1720850"/>
              <a:ext cx="2419350" cy="523875"/>
            </a:xfrm>
            <a:custGeom>
              <a:avLst/>
              <a:gdLst/>
              <a:ahLst/>
              <a:cxnLst/>
              <a:rect r="r" b="b" t="t" l="l"/>
              <a:pathLst>
                <a:path h="523875" w="2419350">
                  <a:moveTo>
                    <a:pt x="0" y="0"/>
                  </a:moveTo>
                  <a:lnTo>
                    <a:pt x="2419350" y="0"/>
                  </a:lnTo>
                  <a:lnTo>
                    <a:pt x="2419350" y="523875"/>
                  </a:lnTo>
                  <a:lnTo>
                    <a:pt x="0" y="5238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63500" y="1720850"/>
              <a:ext cx="2419350" cy="523875"/>
            </a:xfrm>
            <a:custGeom>
              <a:avLst/>
              <a:gdLst/>
              <a:ahLst/>
              <a:cxnLst/>
              <a:rect r="r" b="b" t="t" l="l"/>
              <a:pathLst>
                <a:path h="523875" w="2419350">
                  <a:moveTo>
                    <a:pt x="9525" y="0"/>
                  </a:moveTo>
                  <a:lnTo>
                    <a:pt x="2409825" y="0"/>
                  </a:lnTo>
                  <a:lnTo>
                    <a:pt x="2419350" y="0"/>
                  </a:lnTo>
                  <a:lnTo>
                    <a:pt x="2419350" y="9525"/>
                  </a:lnTo>
                  <a:lnTo>
                    <a:pt x="2419350" y="514350"/>
                  </a:lnTo>
                  <a:lnTo>
                    <a:pt x="2419350" y="523875"/>
                  </a:lnTo>
                  <a:lnTo>
                    <a:pt x="2409825" y="523875"/>
                  </a:lnTo>
                  <a:lnTo>
                    <a:pt x="9525" y="523875"/>
                  </a:lnTo>
                  <a:lnTo>
                    <a:pt x="0" y="523875"/>
                  </a:lnTo>
                  <a:lnTo>
                    <a:pt x="0" y="514350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514350"/>
                  </a:lnTo>
                  <a:lnTo>
                    <a:pt x="9525" y="514350"/>
                  </a:lnTo>
                  <a:lnTo>
                    <a:pt x="9525" y="504825"/>
                  </a:lnTo>
                  <a:lnTo>
                    <a:pt x="2409825" y="504825"/>
                  </a:lnTo>
                  <a:lnTo>
                    <a:pt x="2409825" y="514350"/>
                  </a:lnTo>
                  <a:lnTo>
                    <a:pt x="2400300" y="514350"/>
                  </a:lnTo>
                  <a:lnTo>
                    <a:pt x="2400300" y="9525"/>
                  </a:lnTo>
                  <a:lnTo>
                    <a:pt x="2409825" y="9525"/>
                  </a:lnTo>
                  <a:lnTo>
                    <a:pt x="24098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63500" y="2339975"/>
              <a:ext cx="2419350" cy="514350"/>
            </a:xfrm>
            <a:custGeom>
              <a:avLst/>
              <a:gdLst/>
              <a:ahLst/>
              <a:cxnLst/>
              <a:rect r="r" b="b" t="t" l="l"/>
              <a:pathLst>
                <a:path h="514350" w="2419350">
                  <a:moveTo>
                    <a:pt x="0" y="0"/>
                  </a:moveTo>
                  <a:lnTo>
                    <a:pt x="2419350" y="0"/>
                  </a:lnTo>
                  <a:lnTo>
                    <a:pt x="2419350" y="514350"/>
                  </a:lnTo>
                  <a:lnTo>
                    <a:pt x="0" y="5143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63500" y="2339975"/>
              <a:ext cx="2419350" cy="514350"/>
            </a:xfrm>
            <a:custGeom>
              <a:avLst/>
              <a:gdLst/>
              <a:ahLst/>
              <a:cxnLst/>
              <a:rect r="r" b="b" t="t" l="l"/>
              <a:pathLst>
                <a:path h="514350" w="2419350">
                  <a:moveTo>
                    <a:pt x="9525" y="0"/>
                  </a:moveTo>
                  <a:lnTo>
                    <a:pt x="2409825" y="0"/>
                  </a:lnTo>
                  <a:lnTo>
                    <a:pt x="2419350" y="0"/>
                  </a:lnTo>
                  <a:lnTo>
                    <a:pt x="2419350" y="9525"/>
                  </a:lnTo>
                  <a:lnTo>
                    <a:pt x="2419350" y="504825"/>
                  </a:lnTo>
                  <a:lnTo>
                    <a:pt x="2419350" y="514350"/>
                  </a:lnTo>
                  <a:lnTo>
                    <a:pt x="2409825" y="514350"/>
                  </a:lnTo>
                  <a:lnTo>
                    <a:pt x="9525" y="514350"/>
                  </a:lnTo>
                  <a:lnTo>
                    <a:pt x="0" y="514350"/>
                  </a:lnTo>
                  <a:lnTo>
                    <a:pt x="0" y="50482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504825"/>
                  </a:lnTo>
                  <a:lnTo>
                    <a:pt x="9525" y="504825"/>
                  </a:lnTo>
                  <a:lnTo>
                    <a:pt x="9525" y="495300"/>
                  </a:lnTo>
                  <a:lnTo>
                    <a:pt x="2409825" y="495300"/>
                  </a:lnTo>
                  <a:lnTo>
                    <a:pt x="2409825" y="504825"/>
                  </a:lnTo>
                  <a:lnTo>
                    <a:pt x="2400300" y="504825"/>
                  </a:lnTo>
                  <a:lnTo>
                    <a:pt x="2400300" y="9525"/>
                  </a:lnTo>
                  <a:lnTo>
                    <a:pt x="2409825" y="9525"/>
                  </a:lnTo>
                  <a:lnTo>
                    <a:pt x="24098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3500" y="2949575"/>
              <a:ext cx="2419350" cy="523875"/>
            </a:xfrm>
            <a:custGeom>
              <a:avLst/>
              <a:gdLst/>
              <a:ahLst/>
              <a:cxnLst/>
              <a:rect r="r" b="b" t="t" l="l"/>
              <a:pathLst>
                <a:path h="523875" w="2419350">
                  <a:moveTo>
                    <a:pt x="0" y="0"/>
                  </a:moveTo>
                  <a:lnTo>
                    <a:pt x="2419350" y="0"/>
                  </a:lnTo>
                  <a:lnTo>
                    <a:pt x="2419350" y="523875"/>
                  </a:lnTo>
                  <a:lnTo>
                    <a:pt x="0" y="5238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63500" y="2949575"/>
              <a:ext cx="2419350" cy="523875"/>
            </a:xfrm>
            <a:custGeom>
              <a:avLst/>
              <a:gdLst/>
              <a:ahLst/>
              <a:cxnLst/>
              <a:rect r="r" b="b" t="t" l="l"/>
              <a:pathLst>
                <a:path h="523875" w="2419350">
                  <a:moveTo>
                    <a:pt x="9525" y="0"/>
                  </a:moveTo>
                  <a:lnTo>
                    <a:pt x="2409825" y="0"/>
                  </a:lnTo>
                  <a:lnTo>
                    <a:pt x="2419350" y="0"/>
                  </a:lnTo>
                  <a:lnTo>
                    <a:pt x="2419350" y="9525"/>
                  </a:lnTo>
                  <a:lnTo>
                    <a:pt x="2419350" y="514350"/>
                  </a:lnTo>
                  <a:lnTo>
                    <a:pt x="2419350" y="523875"/>
                  </a:lnTo>
                  <a:lnTo>
                    <a:pt x="2409825" y="523875"/>
                  </a:lnTo>
                  <a:lnTo>
                    <a:pt x="9525" y="523875"/>
                  </a:lnTo>
                  <a:lnTo>
                    <a:pt x="0" y="523875"/>
                  </a:lnTo>
                  <a:lnTo>
                    <a:pt x="0" y="514350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514350"/>
                  </a:lnTo>
                  <a:lnTo>
                    <a:pt x="9525" y="514350"/>
                  </a:lnTo>
                  <a:lnTo>
                    <a:pt x="9525" y="504825"/>
                  </a:lnTo>
                  <a:lnTo>
                    <a:pt x="2409825" y="504825"/>
                  </a:lnTo>
                  <a:lnTo>
                    <a:pt x="2409825" y="514350"/>
                  </a:lnTo>
                  <a:lnTo>
                    <a:pt x="2400300" y="514350"/>
                  </a:lnTo>
                  <a:lnTo>
                    <a:pt x="2400300" y="9525"/>
                  </a:lnTo>
                  <a:lnTo>
                    <a:pt x="2409825" y="9525"/>
                  </a:lnTo>
                  <a:lnTo>
                    <a:pt x="24098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661272" y="1555747"/>
            <a:ext cx="2270122" cy="2917822"/>
            <a:chOff x="0" y="0"/>
            <a:chExt cx="2270125" cy="291782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63500" y="63500"/>
              <a:ext cx="1123950" cy="219075"/>
            </a:xfrm>
            <a:custGeom>
              <a:avLst/>
              <a:gdLst/>
              <a:ahLst/>
              <a:cxnLst/>
              <a:rect r="r" b="b" t="t" l="l"/>
              <a:pathLst>
                <a:path h="219075" w="1123950">
                  <a:moveTo>
                    <a:pt x="0" y="0"/>
                  </a:moveTo>
                  <a:lnTo>
                    <a:pt x="1123950" y="0"/>
                  </a:lnTo>
                  <a:lnTo>
                    <a:pt x="1123950" y="219075"/>
                  </a:lnTo>
                  <a:lnTo>
                    <a:pt x="0" y="219075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63500" y="358775"/>
              <a:ext cx="2143125" cy="657225"/>
            </a:xfrm>
            <a:custGeom>
              <a:avLst/>
              <a:gdLst/>
              <a:ahLst/>
              <a:cxnLst/>
              <a:rect r="r" b="b" t="t" l="l"/>
              <a:pathLst>
                <a:path h="657225" w="2143125">
                  <a:moveTo>
                    <a:pt x="0" y="0"/>
                  </a:moveTo>
                  <a:lnTo>
                    <a:pt x="2143125" y="0"/>
                  </a:lnTo>
                  <a:lnTo>
                    <a:pt x="2143125" y="657225"/>
                  </a:lnTo>
                  <a:lnTo>
                    <a:pt x="0" y="6572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63500" y="358775"/>
              <a:ext cx="2143125" cy="657225"/>
            </a:xfrm>
            <a:custGeom>
              <a:avLst/>
              <a:gdLst/>
              <a:ahLst/>
              <a:cxnLst/>
              <a:rect r="r" b="b" t="t" l="l"/>
              <a:pathLst>
                <a:path h="657225" w="2143125">
                  <a:moveTo>
                    <a:pt x="9525" y="0"/>
                  </a:moveTo>
                  <a:lnTo>
                    <a:pt x="2133600" y="0"/>
                  </a:lnTo>
                  <a:lnTo>
                    <a:pt x="2143125" y="0"/>
                  </a:lnTo>
                  <a:lnTo>
                    <a:pt x="2143125" y="9525"/>
                  </a:lnTo>
                  <a:lnTo>
                    <a:pt x="2143125" y="647700"/>
                  </a:lnTo>
                  <a:lnTo>
                    <a:pt x="2143125" y="657225"/>
                  </a:lnTo>
                  <a:lnTo>
                    <a:pt x="2133600" y="657225"/>
                  </a:lnTo>
                  <a:lnTo>
                    <a:pt x="9525" y="657225"/>
                  </a:lnTo>
                  <a:lnTo>
                    <a:pt x="0" y="657225"/>
                  </a:lnTo>
                  <a:lnTo>
                    <a:pt x="0" y="647700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647700"/>
                  </a:lnTo>
                  <a:lnTo>
                    <a:pt x="9525" y="647700"/>
                  </a:lnTo>
                  <a:lnTo>
                    <a:pt x="9525" y="638175"/>
                  </a:lnTo>
                  <a:lnTo>
                    <a:pt x="2133600" y="638175"/>
                  </a:lnTo>
                  <a:lnTo>
                    <a:pt x="2133600" y="647700"/>
                  </a:lnTo>
                  <a:lnTo>
                    <a:pt x="2124075" y="647700"/>
                  </a:lnTo>
                  <a:lnTo>
                    <a:pt x="2124075" y="9525"/>
                  </a:lnTo>
                  <a:lnTo>
                    <a:pt x="2133600" y="9525"/>
                  </a:lnTo>
                  <a:lnTo>
                    <a:pt x="2133600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63500" y="1111250"/>
              <a:ext cx="2143125" cy="514350"/>
            </a:xfrm>
            <a:custGeom>
              <a:avLst/>
              <a:gdLst/>
              <a:ahLst/>
              <a:cxnLst/>
              <a:rect r="r" b="b" t="t" l="l"/>
              <a:pathLst>
                <a:path h="514350" w="2143125">
                  <a:moveTo>
                    <a:pt x="0" y="0"/>
                  </a:moveTo>
                  <a:lnTo>
                    <a:pt x="2143125" y="0"/>
                  </a:lnTo>
                  <a:lnTo>
                    <a:pt x="2143125" y="514350"/>
                  </a:lnTo>
                  <a:lnTo>
                    <a:pt x="0" y="5143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63500" y="1111250"/>
              <a:ext cx="2143125" cy="514350"/>
            </a:xfrm>
            <a:custGeom>
              <a:avLst/>
              <a:gdLst/>
              <a:ahLst/>
              <a:cxnLst/>
              <a:rect r="r" b="b" t="t" l="l"/>
              <a:pathLst>
                <a:path h="514350" w="2143125">
                  <a:moveTo>
                    <a:pt x="9525" y="0"/>
                  </a:moveTo>
                  <a:lnTo>
                    <a:pt x="2133600" y="0"/>
                  </a:lnTo>
                  <a:lnTo>
                    <a:pt x="2143125" y="0"/>
                  </a:lnTo>
                  <a:lnTo>
                    <a:pt x="2143125" y="9525"/>
                  </a:lnTo>
                  <a:lnTo>
                    <a:pt x="2143125" y="504825"/>
                  </a:lnTo>
                  <a:lnTo>
                    <a:pt x="2143125" y="514350"/>
                  </a:lnTo>
                  <a:lnTo>
                    <a:pt x="2133600" y="514350"/>
                  </a:lnTo>
                  <a:lnTo>
                    <a:pt x="9525" y="514350"/>
                  </a:lnTo>
                  <a:lnTo>
                    <a:pt x="0" y="514350"/>
                  </a:lnTo>
                  <a:lnTo>
                    <a:pt x="0" y="50482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504825"/>
                  </a:lnTo>
                  <a:lnTo>
                    <a:pt x="9525" y="504825"/>
                  </a:lnTo>
                  <a:lnTo>
                    <a:pt x="9525" y="495300"/>
                  </a:lnTo>
                  <a:lnTo>
                    <a:pt x="2133600" y="495300"/>
                  </a:lnTo>
                  <a:lnTo>
                    <a:pt x="2133600" y="504825"/>
                  </a:lnTo>
                  <a:lnTo>
                    <a:pt x="2124075" y="504825"/>
                  </a:lnTo>
                  <a:lnTo>
                    <a:pt x="2124075" y="9525"/>
                  </a:lnTo>
                  <a:lnTo>
                    <a:pt x="2133600" y="9525"/>
                  </a:lnTo>
                  <a:lnTo>
                    <a:pt x="2133600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63500" y="1720850"/>
              <a:ext cx="2143125" cy="523875"/>
            </a:xfrm>
            <a:custGeom>
              <a:avLst/>
              <a:gdLst/>
              <a:ahLst/>
              <a:cxnLst/>
              <a:rect r="r" b="b" t="t" l="l"/>
              <a:pathLst>
                <a:path h="523875" w="2143125">
                  <a:moveTo>
                    <a:pt x="0" y="0"/>
                  </a:moveTo>
                  <a:lnTo>
                    <a:pt x="2143125" y="0"/>
                  </a:lnTo>
                  <a:lnTo>
                    <a:pt x="2143125" y="523875"/>
                  </a:lnTo>
                  <a:lnTo>
                    <a:pt x="0" y="5238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63500" y="1720850"/>
              <a:ext cx="2143125" cy="523875"/>
            </a:xfrm>
            <a:custGeom>
              <a:avLst/>
              <a:gdLst/>
              <a:ahLst/>
              <a:cxnLst/>
              <a:rect r="r" b="b" t="t" l="l"/>
              <a:pathLst>
                <a:path h="523875" w="2143125">
                  <a:moveTo>
                    <a:pt x="9525" y="0"/>
                  </a:moveTo>
                  <a:lnTo>
                    <a:pt x="2133600" y="0"/>
                  </a:lnTo>
                  <a:lnTo>
                    <a:pt x="2143125" y="0"/>
                  </a:lnTo>
                  <a:lnTo>
                    <a:pt x="2143125" y="9525"/>
                  </a:lnTo>
                  <a:lnTo>
                    <a:pt x="2143125" y="514350"/>
                  </a:lnTo>
                  <a:lnTo>
                    <a:pt x="2143125" y="523875"/>
                  </a:lnTo>
                  <a:lnTo>
                    <a:pt x="2133600" y="523875"/>
                  </a:lnTo>
                  <a:lnTo>
                    <a:pt x="9525" y="523875"/>
                  </a:lnTo>
                  <a:lnTo>
                    <a:pt x="0" y="523875"/>
                  </a:lnTo>
                  <a:lnTo>
                    <a:pt x="0" y="514350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514350"/>
                  </a:lnTo>
                  <a:lnTo>
                    <a:pt x="9525" y="514350"/>
                  </a:lnTo>
                  <a:lnTo>
                    <a:pt x="9525" y="504825"/>
                  </a:lnTo>
                  <a:lnTo>
                    <a:pt x="2133600" y="504825"/>
                  </a:lnTo>
                  <a:lnTo>
                    <a:pt x="2133600" y="514350"/>
                  </a:lnTo>
                  <a:lnTo>
                    <a:pt x="2124075" y="514350"/>
                  </a:lnTo>
                  <a:lnTo>
                    <a:pt x="2124075" y="9525"/>
                  </a:lnTo>
                  <a:lnTo>
                    <a:pt x="2133600" y="9525"/>
                  </a:lnTo>
                  <a:lnTo>
                    <a:pt x="2133600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63500" y="2339975"/>
              <a:ext cx="2143125" cy="514350"/>
            </a:xfrm>
            <a:custGeom>
              <a:avLst/>
              <a:gdLst/>
              <a:ahLst/>
              <a:cxnLst/>
              <a:rect r="r" b="b" t="t" l="l"/>
              <a:pathLst>
                <a:path h="514350" w="2143125">
                  <a:moveTo>
                    <a:pt x="0" y="0"/>
                  </a:moveTo>
                  <a:lnTo>
                    <a:pt x="2143125" y="0"/>
                  </a:lnTo>
                  <a:lnTo>
                    <a:pt x="2143125" y="514350"/>
                  </a:lnTo>
                  <a:lnTo>
                    <a:pt x="0" y="5143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63500" y="2339975"/>
              <a:ext cx="2143125" cy="514350"/>
            </a:xfrm>
            <a:custGeom>
              <a:avLst/>
              <a:gdLst/>
              <a:ahLst/>
              <a:cxnLst/>
              <a:rect r="r" b="b" t="t" l="l"/>
              <a:pathLst>
                <a:path h="514350" w="2143125">
                  <a:moveTo>
                    <a:pt x="9525" y="0"/>
                  </a:moveTo>
                  <a:lnTo>
                    <a:pt x="2133600" y="0"/>
                  </a:lnTo>
                  <a:lnTo>
                    <a:pt x="2143125" y="0"/>
                  </a:lnTo>
                  <a:lnTo>
                    <a:pt x="2143125" y="9525"/>
                  </a:lnTo>
                  <a:lnTo>
                    <a:pt x="2143125" y="504825"/>
                  </a:lnTo>
                  <a:lnTo>
                    <a:pt x="2143125" y="514350"/>
                  </a:lnTo>
                  <a:lnTo>
                    <a:pt x="2133600" y="514350"/>
                  </a:lnTo>
                  <a:lnTo>
                    <a:pt x="9525" y="514350"/>
                  </a:lnTo>
                  <a:lnTo>
                    <a:pt x="0" y="514350"/>
                  </a:lnTo>
                  <a:lnTo>
                    <a:pt x="0" y="50482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504825"/>
                  </a:lnTo>
                  <a:lnTo>
                    <a:pt x="9525" y="504825"/>
                  </a:lnTo>
                  <a:lnTo>
                    <a:pt x="9525" y="495300"/>
                  </a:lnTo>
                  <a:lnTo>
                    <a:pt x="2133600" y="495300"/>
                  </a:lnTo>
                  <a:lnTo>
                    <a:pt x="2133600" y="504825"/>
                  </a:lnTo>
                  <a:lnTo>
                    <a:pt x="2124075" y="504825"/>
                  </a:lnTo>
                  <a:lnTo>
                    <a:pt x="2124075" y="9525"/>
                  </a:lnTo>
                  <a:lnTo>
                    <a:pt x="2133600" y="9525"/>
                  </a:lnTo>
                  <a:lnTo>
                    <a:pt x="2133600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393697" y="5841997"/>
            <a:ext cx="11404597" cy="622297"/>
            <a:chOff x="0" y="0"/>
            <a:chExt cx="11404600" cy="6223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63500" y="63500"/>
              <a:ext cx="11277600" cy="495300"/>
            </a:xfrm>
            <a:custGeom>
              <a:avLst/>
              <a:gdLst/>
              <a:ahLst/>
              <a:cxnLst/>
              <a:rect r="r" b="b" t="t" l="l"/>
              <a:pathLst>
                <a:path h="495300" w="11277600">
                  <a:moveTo>
                    <a:pt x="9525" y="0"/>
                  </a:moveTo>
                  <a:lnTo>
                    <a:pt x="11268075" y="0"/>
                  </a:lnTo>
                  <a:lnTo>
                    <a:pt x="11277600" y="0"/>
                  </a:lnTo>
                  <a:lnTo>
                    <a:pt x="11277600" y="9525"/>
                  </a:lnTo>
                  <a:lnTo>
                    <a:pt x="11277600" y="485775"/>
                  </a:lnTo>
                  <a:lnTo>
                    <a:pt x="11277600" y="495300"/>
                  </a:lnTo>
                  <a:lnTo>
                    <a:pt x="11268075" y="495300"/>
                  </a:lnTo>
                  <a:lnTo>
                    <a:pt x="9525" y="495300"/>
                  </a:lnTo>
                  <a:lnTo>
                    <a:pt x="0" y="495300"/>
                  </a:lnTo>
                  <a:lnTo>
                    <a:pt x="0" y="48577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485775"/>
                  </a:lnTo>
                  <a:lnTo>
                    <a:pt x="9525" y="485775"/>
                  </a:lnTo>
                  <a:lnTo>
                    <a:pt x="9525" y="476250"/>
                  </a:lnTo>
                  <a:lnTo>
                    <a:pt x="11268075" y="476250"/>
                  </a:lnTo>
                  <a:lnTo>
                    <a:pt x="11268075" y="485775"/>
                  </a:lnTo>
                  <a:lnTo>
                    <a:pt x="11258550" y="485775"/>
                  </a:lnTo>
                  <a:lnTo>
                    <a:pt x="11258550" y="9525"/>
                  </a:lnTo>
                  <a:lnTo>
                    <a:pt x="11268075" y="9525"/>
                  </a:lnTo>
                  <a:lnTo>
                    <a:pt x="1126807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82550" y="82550"/>
              <a:ext cx="5619750" cy="457200"/>
            </a:xfrm>
            <a:custGeom>
              <a:avLst/>
              <a:gdLst/>
              <a:ahLst/>
              <a:cxnLst/>
              <a:rect r="r" b="b" t="t" l="l"/>
              <a:pathLst>
                <a:path h="457200" w="5619750">
                  <a:moveTo>
                    <a:pt x="0" y="0"/>
                  </a:moveTo>
                  <a:lnTo>
                    <a:pt x="5619750" y="0"/>
                  </a:lnTo>
                  <a:lnTo>
                    <a:pt x="561975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E7F7EC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5702300" y="82550"/>
              <a:ext cx="5619750" cy="457200"/>
            </a:xfrm>
            <a:custGeom>
              <a:avLst/>
              <a:gdLst/>
              <a:ahLst/>
              <a:cxnLst/>
              <a:rect r="r" b="b" t="t" l="l"/>
              <a:pathLst>
                <a:path h="457200" w="5619750">
                  <a:moveTo>
                    <a:pt x="0" y="0"/>
                  </a:moveTo>
                  <a:lnTo>
                    <a:pt x="5619750" y="0"/>
                  </a:lnTo>
                  <a:lnTo>
                    <a:pt x="561975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994897" y="1555747"/>
            <a:ext cx="1803397" cy="2165347"/>
            <a:chOff x="0" y="0"/>
            <a:chExt cx="1803400" cy="21653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63500" y="63500"/>
              <a:ext cx="914400" cy="219075"/>
            </a:xfrm>
            <a:custGeom>
              <a:avLst/>
              <a:gdLst/>
              <a:ahLst/>
              <a:cxnLst/>
              <a:rect r="r" b="b" t="t" l="l"/>
              <a:pathLst>
                <a:path h="21907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219075"/>
                  </a:lnTo>
                  <a:lnTo>
                    <a:pt x="0" y="219075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63500" y="358775"/>
              <a:ext cx="1676400" cy="514350"/>
            </a:xfrm>
            <a:custGeom>
              <a:avLst/>
              <a:gdLst/>
              <a:ahLst/>
              <a:cxnLst/>
              <a:rect r="r" b="b" t="t" l="l"/>
              <a:pathLst>
                <a:path h="514350" w="1676400">
                  <a:moveTo>
                    <a:pt x="0" y="0"/>
                  </a:moveTo>
                  <a:lnTo>
                    <a:pt x="1676400" y="0"/>
                  </a:lnTo>
                  <a:lnTo>
                    <a:pt x="1676400" y="514350"/>
                  </a:lnTo>
                  <a:lnTo>
                    <a:pt x="0" y="5143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63500" y="358775"/>
              <a:ext cx="1676400" cy="514350"/>
            </a:xfrm>
            <a:custGeom>
              <a:avLst/>
              <a:gdLst/>
              <a:ahLst/>
              <a:cxnLst/>
              <a:rect r="r" b="b" t="t" l="l"/>
              <a:pathLst>
                <a:path h="514350" w="1676400">
                  <a:moveTo>
                    <a:pt x="9525" y="0"/>
                  </a:moveTo>
                  <a:lnTo>
                    <a:pt x="1666875" y="0"/>
                  </a:lnTo>
                  <a:lnTo>
                    <a:pt x="1676400" y="0"/>
                  </a:lnTo>
                  <a:lnTo>
                    <a:pt x="1676400" y="9525"/>
                  </a:lnTo>
                  <a:lnTo>
                    <a:pt x="1676400" y="504825"/>
                  </a:lnTo>
                  <a:lnTo>
                    <a:pt x="1676400" y="514350"/>
                  </a:lnTo>
                  <a:lnTo>
                    <a:pt x="1666875" y="514350"/>
                  </a:lnTo>
                  <a:lnTo>
                    <a:pt x="9525" y="514350"/>
                  </a:lnTo>
                  <a:lnTo>
                    <a:pt x="0" y="514350"/>
                  </a:lnTo>
                  <a:lnTo>
                    <a:pt x="0" y="50482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504825"/>
                  </a:lnTo>
                  <a:lnTo>
                    <a:pt x="9525" y="504825"/>
                  </a:lnTo>
                  <a:lnTo>
                    <a:pt x="9525" y="495300"/>
                  </a:lnTo>
                  <a:lnTo>
                    <a:pt x="1666875" y="495300"/>
                  </a:lnTo>
                  <a:lnTo>
                    <a:pt x="1666875" y="504825"/>
                  </a:lnTo>
                  <a:lnTo>
                    <a:pt x="1657350" y="504825"/>
                  </a:lnTo>
                  <a:lnTo>
                    <a:pt x="1657350" y="9525"/>
                  </a:lnTo>
                  <a:lnTo>
                    <a:pt x="1666875" y="9525"/>
                  </a:lnTo>
                  <a:lnTo>
                    <a:pt x="166687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63500" y="968375"/>
              <a:ext cx="1676400" cy="523875"/>
            </a:xfrm>
            <a:custGeom>
              <a:avLst/>
              <a:gdLst/>
              <a:ahLst/>
              <a:cxnLst/>
              <a:rect r="r" b="b" t="t" l="l"/>
              <a:pathLst>
                <a:path h="523875" w="1676400">
                  <a:moveTo>
                    <a:pt x="0" y="0"/>
                  </a:moveTo>
                  <a:lnTo>
                    <a:pt x="1676400" y="0"/>
                  </a:lnTo>
                  <a:lnTo>
                    <a:pt x="1676400" y="523875"/>
                  </a:lnTo>
                  <a:lnTo>
                    <a:pt x="0" y="5238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63500" y="968375"/>
              <a:ext cx="1676400" cy="523875"/>
            </a:xfrm>
            <a:custGeom>
              <a:avLst/>
              <a:gdLst/>
              <a:ahLst/>
              <a:cxnLst/>
              <a:rect r="r" b="b" t="t" l="l"/>
              <a:pathLst>
                <a:path h="523875" w="1676400">
                  <a:moveTo>
                    <a:pt x="9525" y="0"/>
                  </a:moveTo>
                  <a:lnTo>
                    <a:pt x="1666875" y="0"/>
                  </a:lnTo>
                  <a:lnTo>
                    <a:pt x="1676400" y="0"/>
                  </a:lnTo>
                  <a:lnTo>
                    <a:pt x="1676400" y="9525"/>
                  </a:lnTo>
                  <a:lnTo>
                    <a:pt x="1676400" y="514350"/>
                  </a:lnTo>
                  <a:lnTo>
                    <a:pt x="1676400" y="523875"/>
                  </a:lnTo>
                  <a:lnTo>
                    <a:pt x="1666875" y="523875"/>
                  </a:lnTo>
                  <a:lnTo>
                    <a:pt x="9525" y="523875"/>
                  </a:lnTo>
                  <a:lnTo>
                    <a:pt x="0" y="523875"/>
                  </a:lnTo>
                  <a:lnTo>
                    <a:pt x="0" y="514350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514350"/>
                  </a:lnTo>
                  <a:lnTo>
                    <a:pt x="9525" y="514350"/>
                  </a:lnTo>
                  <a:lnTo>
                    <a:pt x="9525" y="504825"/>
                  </a:lnTo>
                  <a:lnTo>
                    <a:pt x="1666875" y="504825"/>
                  </a:lnTo>
                  <a:lnTo>
                    <a:pt x="1666875" y="514350"/>
                  </a:lnTo>
                  <a:lnTo>
                    <a:pt x="1657350" y="514350"/>
                  </a:lnTo>
                  <a:lnTo>
                    <a:pt x="1657350" y="9525"/>
                  </a:lnTo>
                  <a:lnTo>
                    <a:pt x="1666875" y="9525"/>
                  </a:lnTo>
                  <a:lnTo>
                    <a:pt x="166687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63500" y="1587500"/>
              <a:ext cx="1676400" cy="514350"/>
            </a:xfrm>
            <a:custGeom>
              <a:avLst/>
              <a:gdLst/>
              <a:ahLst/>
              <a:cxnLst/>
              <a:rect r="r" b="b" t="t" l="l"/>
              <a:pathLst>
                <a:path h="514350" w="1676400">
                  <a:moveTo>
                    <a:pt x="0" y="0"/>
                  </a:moveTo>
                  <a:lnTo>
                    <a:pt x="1676400" y="0"/>
                  </a:lnTo>
                  <a:lnTo>
                    <a:pt x="1676400" y="514350"/>
                  </a:lnTo>
                  <a:lnTo>
                    <a:pt x="0" y="5143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63500" y="1587500"/>
              <a:ext cx="1676400" cy="514350"/>
            </a:xfrm>
            <a:custGeom>
              <a:avLst/>
              <a:gdLst/>
              <a:ahLst/>
              <a:cxnLst/>
              <a:rect r="r" b="b" t="t" l="l"/>
              <a:pathLst>
                <a:path h="514350" w="1676400">
                  <a:moveTo>
                    <a:pt x="9525" y="0"/>
                  </a:moveTo>
                  <a:lnTo>
                    <a:pt x="1666875" y="0"/>
                  </a:lnTo>
                  <a:lnTo>
                    <a:pt x="1676400" y="0"/>
                  </a:lnTo>
                  <a:lnTo>
                    <a:pt x="1676400" y="9525"/>
                  </a:lnTo>
                  <a:lnTo>
                    <a:pt x="1676400" y="504825"/>
                  </a:lnTo>
                  <a:lnTo>
                    <a:pt x="1676400" y="514350"/>
                  </a:lnTo>
                  <a:lnTo>
                    <a:pt x="1666875" y="514350"/>
                  </a:lnTo>
                  <a:lnTo>
                    <a:pt x="9525" y="514350"/>
                  </a:lnTo>
                  <a:lnTo>
                    <a:pt x="0" y="514350"/>
                  </a:lnTo>
                  <a:lnTo>
                    <a:pt x="0" y="50482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504825"/>
                  </a:lnTo>
                  <a:lnTo>
                    <a:pt x="9525" y="504825"/>
                  </a:lnTo>
                  <a:lnTo>
                    <a:pt x="9525" y="495300"/>
                  </a:lnTo>
                  <a:lnTo>
                    <a:pt x="1666875" y="495300"/>
                  </a:lnTo>
                  <a:lnTo>
                    <a:pt x="1666875" y="504825"/>
                  </a:lnTo>
                  <a:lnTo>
                    <a:pt x="1657350" y="504825"/>
                  </a:lnTo>
                  <a:lnTo>
                    <a:pt x="1657350" y="9525"/>
                  </a:lnTo>
                  <a:lnTo>
                    <a:pt x="1666875" y="9525"/>
                  </a:lnTo>
                  <a:lnTo>
                    <a:pt x="166687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5214042" y="1641234"/>
            <a:ext cx="1897018" cy="1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b="true" sz="787" spc="63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3 · AI TREND &amp; MARKET SIGNALS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824045" y="1641234"/>
            <a:ext cx="935536" cy="1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b="true" sz="787" spc="63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4 · RULE ENGINE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154993" y="1641234"/>
            <a:ext cx="725205" cy="1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b="true" sz="787" spc="62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5 · OUTPUTS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52450" y="383934"/>
            <a:ext cx="1144257" cy="1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b="true" sz="787" spc="59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HOW IT WORKS · 06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57200" y="523017"/>
            <a:ext cx="8836724" cy="966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1"/>
              </a:lnSpc>
            </a:pPr>
            <a:r>
              <a:rPr lang="en-US" sz="2300">
                <a:solidFill>
                  <a:srgbClr val="111111"/>
                </a:solidFill>
                <a:latin typeface="Archivo Black"/>
                <a:ea typeface="Archivo Black"/>
                <a:cs typeface="Archivo Black"/>
                <a:sym typeface="Archivo Black"/>
              </a:rPr>
              <a:t>AI READS AND EXPLAINS.</a:t>
            </a:r>
          </a:p>
          <a:p>
            <a:pPr algn="l">
              <a:lnSpc>
                <a:spcPts val="3921"/>
              </a:lnSpc>
            </a:pPr>
            <a:r>
              <a:rPr lang="en-US" sz="2300">
                <a:solidFill>
                  <a:srgbClr val="16A34A"/>
                </a:solidFill>
                <a:latin typeface="Archivo Black"/>
                <a:ea typeface="Archivo Black"/>
                <a:cs typeface="Archivo Black"/>
                <a:sym typeface="Archivo Black"/>
              </a:rPr>
              <a:t>RULES DECIDE.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552450" y="1641234"/>
            <a:ext cx="1193397" cy="51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b="true" sz="787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1 · INPUTS</a:t>
            </a:r>
          </a:p>
          <a:p>
            <a:pPr algn="l">
              <a:lnSpc>
                <a:spcPts val="1417"/>
              </a:lnSpc>
            </a:pPr>
            <a:r>
              <a:rPr lang="en-US" b="true" sz="1012" spc="2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Certificate upload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604049" y="1641234"/>
            <a:ext cx="1604096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b="true" sz="787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2 · AI LAYER</a:t>
            </a:r>
          </a:p>
          <a:p>
            <a:pPr algn="l">
              <a:lnSpc>
                <a:spcPts val="1417"/>
              </a:lnSpc>
            </a:pPr>
            <a:r>
              <a:rPr lang="en-US" b="true" sz="1012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Whisper on RunPod GPU</a:t>
            </a:r>
          </a:p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speech-to-text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57200" y="6491764"/>
            <a:ext cx="10110835" cy="10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4"/>
              </a:lnSpc>
            </a:pPr>
            <a:r>
              <a:rPr lang="en-US" b="true" sz="675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APIs: Anthropic API (Claude Opus 5.5) · RunPod serverless GPU (Whisper, task-card classifier, GLM-5.3) · LiveKit Cloud · certificate check uses our own rules, no AI. Data: Anthropic Economic Index, ILO, OpenDOSM, MyMAHIR, HRD Corp, MGTC.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318299" y="3526888"/>
            <a:ext cx="252603" cy="34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4928292" y="3526888"/>
            <a:ext cx="252603" cy="34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538295" y="3526888"/>
            <a:ext cx="252603" cy="34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869243" y="3526888"/>
            <a:ext cx="252603" cy="34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7728795" y="4502677"/>
            <a:ext cx="1156992" cy="118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b="true" sz="750" spc="56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RULES.V1.JS · V1.0.0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590550" y="6010904"/>
            <a:ext cx="5403047" cy="28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b="true" sz="900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AI reads and explains:</a:t>
            </a:r>
            <a:r>
              <a:rPr lang="en-US" b="true" sz="90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rPr>
              <a:t> listens, asks questions, sorts answers into task cards, researches the local market.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6210300" y="6010904"/>
            <a:ext cx="5121793" cy="28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b="true" sz="900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Rules decide:</a:t>
            </a:r>
            <a:r>
              <a:rPr lang="en-US" b="true" sz="9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scores, ranking, course order and schedule. AI output is schema-checked and limited to our whitelists.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571500" y="3236833"/>
            <a:ext cx="916200" cy="16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b="true" sz="1012" spc="1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Daily work log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043397" y="3414522"/>
            <a:ext cx="31423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571500" y="2617708"/>
            <a:ext cx="947490" cy="16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b="true" sz="1012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Shift interview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849573" y="2804922"/>
            <a:ext cx="31423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191768" y="2185797"/>
            <a:ext cx="31423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623099" y="3846433"/>
            <a:ext cx="1237231" cy="16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b="true" sz="1012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LiveKit voice agent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2799436" y="4033647"/>
            <a:ext cx="31423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2623099" y="4465558"/>
            <a:ext cx="1352845" cy="16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b="true" sz="1012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Claude + web search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2877417" y="4643247"/>
            <a:ext cx="31423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2623099" y="2617708"/>
            <a:ext cx="1739665" cy="16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b="true" sz="1012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Claude Opus 5.5 · GLM-5.3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2860358" y="2804922"/>
            <a:ext cx="31423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2623099" y="3236833"/>
            <a:ext cx="1920859" cy="16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b="true" sz="1012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Task-card classifier (RunPod)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2999899" y="3414522"/>
            <a:ext cx="31423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3030703" y="3402530"/>
            <a:ext cx="143151" cy="160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sz="862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5233092" y="4598908"/>
            <a:ext cx="1095308" cy="16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b="true" sz="1012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Dated snapshots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5611016" y="4786122"/>
            <a:ext cx="31423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5233092" y="3370183"/>
            <a:ext cx="1510932" cy="16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b="true" sz="1012" spc="1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OpenDOSM · MyMAHIR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5450186" y="3547872"/>
            <a:ext cx="31423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5233092" y="2760583"/>
            <a:ext cx="1664665" cy="16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b="true" sz="1012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ILO GenAI Exposure Index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5537102" y="2938272"/>
            <a:ext cx="31423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5928027" y="2926280"/>
            <a:ext cx="143151" cy="160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sz="862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5233092" y="2008108"/>
            <a:ext cx="1706261" cy="16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b="true" sz="1012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Anthropic Economic Index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5720829" y="2185797"/>
            <a:ext cx="31423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6554286" y="2173805"/>
            <a:ext cx="143151" cy="160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sz="862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5233092" y="3989308"/>
            <a:ext cx="1896161" cy="16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b="true" sz="1012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HRD Corp · MGTC Green Jobs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5678414" y="4166997"/>
            <a:ext cx="31423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7843095" y="2008108"/>
            <a:ext cx="804453" cy="45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8"/>
              </a:lnSpc>
            </a:pPr>
            <a:r>
              <a:rPr lang="en-US" b="true" sz="1012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Match score</a:t>
            </a:r>
          </a:p>
          <a:p>
            <a:pPr algn="l">
              <a:lnSpc>
                <a:spcPts val="1199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  <a:p>
            <a:pPr algn="l">
              <a:lnSpc>
                <a:spcPts val="1199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(+ SDG)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7843095" y="3370183"/>
            <a:ext cx="900760" cy="16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b="true" sz="1012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Licence gates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8484108" y="3547872"/>
            <a:ext cx="31423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7843095" y="2760583"/>
            <a:ext cx="940537" cy="16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b="true" sz="1012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Window Score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8263271" y="2938272"/>
            <a:ext cx="31423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7843095" y="3989308"/>
            <a:ext cx="1169499" cy="16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b="true" sz="1012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Weekly scheduler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8168926" y="4166997"/>
            <a:ext cx="31423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0174043" y="2008108"/>
            <a:ext cx="1033434" cy="32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b="true" sz="1012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Path cards</a:t>
            </a:r>
          </a:p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Stay · Evolve · Pivot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0174043" y="3236833"/>
            <a:ext cx="996934" cy="16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b="true" sz="1012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Transition Card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0376002" y="3414522"/>
            <a:ext cx="31423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0174043" y="2617708"/>
            <a:ext cx="986657" cy="16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b="true" sz="1012" spc="2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Study calendar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0352522" y="2804922"/>
            <a:ext cx="31423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571500" y="3414522"/>
            <a:ext cx="906151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evidence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for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PPT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571500" y="2185797"/>
            <a:ext cx="1450505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SVM / SKM,whitelistcheck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571500" y="2804922"/>
            <a:ext cx="1514275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voiceortyped,BM+ English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2623099" y="3414522"/>
            <a:ext cx="384343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answer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2623099" y="4033647"/>
            <a:ext cx="764372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live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skill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check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3171053" y="3414522"/>
            <a:ext cx="832237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NOSS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task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card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2623099" y="2804922"/>
            <a:ext cx="1500092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asks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the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interview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questions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2623099" y="4643247"/>
            <a:ext cx="1744609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state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market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report,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with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sources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5233092" y="2938272"/>
            <a:ext cx="677408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upper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bound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5233092" y="3547872"/>
            <a:ext cx="1279531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jobs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and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wages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by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state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5233092" y="2204847"/>
            <a:ext cx="1316193" cy="248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9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observed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AI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use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per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task scenario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5233092" y="4166997"/>
            <a:ext cx="1371400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courses,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fees,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green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roles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5233092" y="4786122"/>
            <a:ext cx="1954863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release2026-03,re-ranks on update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6068368" y="2938272"/>
            <a:ext cx="1106862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accelerated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scenario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6694627" y="2185797"/>
            <a:ext cx="503815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moderate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7843095" y="4166997"/>
            <a:ext cx="1176309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hours,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budget,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intakes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7843095" y="3547872"/>
            <a:ext cx="1450829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SuruhanjayaTenaga, GCPV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7843095" y="2938272"/>
            <a:ext cx="1741827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demand−supply+pay premium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7843095" y="2185797"/>
            <a:ext cx="1879082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overlap+demand + interest + ease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0174043" y="2804922"/>
            <a:ext cx="552860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.ics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export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10174043" y="3414522"/>
            <a:ext cx="1064914" cy="13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first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step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in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4</a:t>
            </a:r>
            <a:r>
              <a:rPr lang="en-US" b="true" sz="86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862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weeks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7200" y="361950"/>
            <a:ext cx="1247775" cy="219075"/>
            <a:chOff x="0" y="0"/>
            <a:chExt cx="1247775" cy="219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7775" cy="219075"/>
            </a:xfrm>
            <a:custGeom>
              <a:avLst/>
              <a:gdLst/>
              <a:ahLst/>
              <a:cxnLst/>
              <a:rect r="r" b="b" t="t" l="l"/>
              <a:pathLst>
                <a:path h="219075" w="1247775">
                  <a:moveTo>
                    <a:pt x="0" y="0"/>
                  </a:moveTo>
                  <a:lnTo>
                    <a:pt x="1247775" y="0"/>
                  </a:lnTo>
                  <a:lnTo>
                    <a:pt x="1247775" y="219075"/>
                  </a:lnTo>
                  <a:lnTo>
                    <a:pt x="0" y="219075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93697" y="1555747"/>
            <a:ext cx="5661022" cy="4908547"/>
            <a:chOff x="0" y="0"/>
            <a:chExt cx="5661025" cy="4908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5534025" cy="4781550"/>
            </a:xfrm>
            <a:custGeom>
              <a:avLst/>
              <a:gdLst/>
              <a:ahLst/>
              <a:cxnLst/>
              <a:rect r="r" b="b" t="t" l="l"/>
              <a:pathLst>
                <a:path h="4781550" w="5534025">
                  <a:moveTo>
                    <a:pt x="0" y="0"/>
                  </a:moveTo>
                  <a:lnTo>
                    <a:pt x="5534025" y="0"/>
                  </a:lnTo>
                  <a:lnTo>
                    <a:pt x="5534025" y="4781550"/>
                  </a:lnTo>
                  <a:lnTo>
                    <a:pt x="0" y="4781550"/>
                  </a:lnTo>
                  <a:close/>
                </a:path>
              </a:pathLst>
            </a:custGeom>
            <a:solidFill>
              <a:srgbClr val="E7F7EC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5534025" cy="4781550"/>
            </a:xfrm>
            <a:custGeom>
              <a:avLst/>
              <a:gdLst/>
              <a:ahLst/>
              <a:cxnLst/>
              <a:rect r="r" b="b" t="t" l="l"/>
              <a:pathLst>
                <a:path h="4781550" w="5534025">
                  <a:moveTo>
                    <a:pt x="9525" y="0"/>
                  </a:moveTo>
                  <a:lnTo>
                    <a:pt x="5524500" y="0"/>
                  </a:lnTo>
                  <a:lnTo>
                    <a:pt x="5534025" y="0"/>
                  </a:lnTo>
                  <a:lnTo>
                    <a:pt x="5534025" y="9525"/>
                  </a:lnTo>
                  <a:lnTo>
                    <a:pt x="5534025" y="4772025"/>
                  </a:lnTo>
                  <a:lnTo>
                    <a:pt x="5534025" y="4781550"/>
                  </a:lnTo>
                  <a:lnTo>
                    <a:pt x="5524500" y="4781550"/>
                  </a:lnTo>
                  <a:lnTo>
                    <a:pt x="9525" y="4781550"/>
                  </a:lnTo>
                  <a:lnTo>
                    <a:pt x="0" y="4781550"/>
                  </a:lnTo>
                  <a:lnTo>
                    <a:pt x="0" y="477202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4772025"/>
                  </a:lnTo>
                  <a:lnTo>
                    <a:pt x="9525" y="4772025"/>
                  </a:lnTo>
                  <a:lnTo>
                    <a:pt x="9525" y="4762500"/>
                  </a:lnTo>
                  <a:lnTo>
                    <a:pt x="5524500" y="4762500"/>
                  </a:lnTo>
                  <a:lnTo>
                    <a:pt x="5524500" y="4772025"/>
                  </a:lnTo>
                  <a:lnTo>
                    <a:pt x="5514975" y="4772025"/>
                  </a:lnTo>
                  <a:lnTo>
                    <a:pt x="5514975" y="9525"/>
                  </a:lnTo>
                  <a:lnTo>
                    <a:pt x="5524500" y="9525"/>
                  </a:lnTo>
                  <a:lnTo>
                    <a:pt x="5524500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34950" y="1406525"/>
              <a:ext cx="5191125" cy="3286125"/>
            </a:xfrm>
            <a:custGeom>
              <a:avLst/>
              <a:gdLst/>
              <a:ahLst/>
              <a:cxnLst/>
              <a:rect r="r" b="b" t="t" l="l"/>
              <a:pathLst>
                <a:path h="3286125" w="5191125">
                  <a:moveTo>
                    <a:pt x="0" y="0"/>
                  </a:moveTo>
                  <a:lnTo>
                    <a:pt x="0" y="3286125"/>
                  </a:lnTo>
                  <a:lnTo>
                    <a:pt x="5191125" y="3286125"/>
                  </a:lnTo>
                  <a:lnTo>
                    <a:pt x="5191125" y="0"/>
                  </a:lnTo>
                  <a:close/>
                </a:path>
              </a:pathLst>
            </a:custGeom>
            <a:solidFill>
              <a:srgbClr val="EEF3EC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34950" y="1406525"/>
              <a:ext cx="5191125" cy="3286125"/>
            </a:xfrm>
            <a:custGeom>
              <a:avLst/>
              <a:gdLst/>
              <a:ahLst/>
              <a:cxnLst/>
              <a:rect r="r" b="b" t="t" l="l"/>
              <a:pathLst>
                <a:path h="3286125" w="5191125">
                  <a:moveTo>
                    <a:pt x="5172075" y="19050"/>
                  </a:moveTo>
                  <a:lnTo>
                    <a:pt x="5172075" y="3267075"/>
                  </a:lnTo>
                  <a:lnTo>
                    <a:pt x="19050" y="3267075"/>
                  </a:lnTo>
                  <a:lnTo>
                    <a:pt x="19050" y="19050"/>
                  </a:lnTo>
                  <a:close/>
                  <a:moveTo>
                    <a:pt x="0" y="0"/>
                  </a:moveTo>
                  <a:lnTo>
                    <a:pt x="0" y="9525"/>
                  </a:lnTo>
                  <a:lnTo>
                    <a:pt x="0" y="3276600"/>
                  </a:lnTo>
                  <a:lnTo>
                    <a:pt x="0" y="3286125"/>
                  </a:lnTo>
                  <a:lnTo>
                    <a:pt x="5191125" y="3286125"/>
                  </a:lnTo>
                  <a:lnTo>
                    <a:pt x="5191125" y="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90550" y="1531144"/>
            <a:ext cx="1095375" cy="219075"/>
            <a:chOff x="0" y="0"/>
            <a:chExt cx="1095375" cy="2190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5375" cy="219075"/>
            </a:xfrm>
            <a:custGeom>
              <a:avLst/>
              <a:gdLst/>
              <a:ahLst/>
              <a:cxnLst/>
              <a:rect r="r" b="b" t="t" l="l"/>
              <a:pathLst>
                <a:path h="219075" w="1095375">
                  <a:moveTo>
                    <a:pt x="0" y="0"/>
                  </a:moveTo>
                  <a:lnTo>
                    <a:pt x="1095375" y="0"/>
                  </a:lnTo>
                  <a:lnTo>
                    <a:pt x="1095375" y="219075"/>
                  </a:lnTo>
                  <a:lnTo>
                    <a:pt x="0" y="219075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28650" y="2314575"/>
            <a:ext cx="76200" cy="76200"/>
            <a:chOff x="0" y="0"/>
            <a:chExt cx="76200" cy="76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28650" y="2533650"/>
            <a:ext cx="76200" cy="76200"/>
            <a:chOff x="0" y="0"/>
            <a:chExt cx="76200" cy="76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28650" y="2752725"/>
            <a:ext cx="76200" cy="76200"/>
            <a:chOff x="0" y="0"/>
            <a:chExt cx="76200" cy="76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137272" y="1555747"/>
            <a:ext cx="5661022" cy="4908547"/>
            <a:chOff x="0" y="0"/>
            <a:chExt cx="5661025" cy="49085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0" y="63500"/>
              <a:ext cx="5534025" cy="4781550"/>
            </a:xfrm>
            <a:custGeom>
              <a:avLst/>
              <a:gdLst/>
              <a:ahLst/>
              <a:cxnLst/>
              <a:rect r="r" b="b" t="t" l="l"/>
              <a:pathLst>
                <a:path h="4781550" w="5534025">
                  <a:moveTo>
                    <a:pt x="0" y="0"/>
                  </a:moveTo>
                  <a:lnTo>
                    <a:pt x="5534025" y="0"/>
                  </a:lnTo>
                  <a:lnTo>
                    <a:pt x="5534025" y="4781550"/>
                  </a:lnTo>
                  <a:lnTo>
                    <a:pt x="0" y="47815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500" y="63500"/>
              <a:ext cx="5534025" cy="4781550"/>
            </a:xfrm>
            <a:custGeom>
              <a:avLst/>
              <a:gdLst/>
              <a:ahLst/>
              <a:cxnLst/>
              <a:rect r="r" b="b" t="t" l="l"/>
              <a:pathLst>
                <a:path h="4781550" w="5534025">
                  <a:moveTo>
                    <a:pt x="9525" y="0"/>
                  </a:moveTo>
                  <a:lnTo>
                    <a:pt x="5524500" y="0"/>
                  </a:lnTo>
                  <a:lnTo>
                    <a:pt x="5534025" y="0"/>
                  </a:lnTo>
                  <a:lnTo>
                    <a:pt x="5534025" y="9525"/>
                  </a:lnTo>
                  <a:lnTo>
                    <a:pt x="5534025" y="4772025"/>
                  </a:lnTo>
                  <a:lnTo>
                    <a:pt x="5534025" y="4781550"/>
                  </a:lnTo>
                  <a:lnTo>
                    <a:pt x="5524500" y="4781550"/>
                  </a:lnTo>
                  <a:lnTo>
                    <a:pt x="9525" y="4781550"/>
                  </a:lnTo>
                  <a:lnTo>
                    <a:pt x="0" y="4781550"/>
                  </a:lnTo>
                  <a:lnTo>
                    <a:pt x="0" y="477202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4772025"/>
                  </a:lnTo>
                  <a:lnTo>
                    <a:pt x="9525" y="4772025"/>
                  </a:lnTo>
                  <a:lnTo>
                    <a:pt x="9525" y="4762500"/>
                  </a:lnTo>
                  <a:lnTo>
                    <a:pt x="5524500" y="4762500"/>
                  </a:lnTo>
                  <a:lnTo>
                    <a:pt x="5524500" y="4772025"/>
                  </a:lnTo>
                  <a:lnTo>
                    <a:pt x="5514975" y="4772025"/>
                  </a:lnTo>
                  <a:lnTo>
                    <a:pt x="5514975" y="9525"/>
                  </a:lnTo>
                  <a:lnTo>
                    <a:pt x="5524500" y="9525"/>
                  </a:lnTo>
                  <a:lnTo>
                    <a:pt x="5524500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34950" y="1406525"/>
              <a:ext cx="5191125" cy="3286125"/>
            </a:xfrm>
            <a:custGeom>
              <a:avLst/>
              <a:gdLst/>
              <a:ahLst/>
              <a:cxnLst/>
              <a:rect r="r" b="b" t="t" l="l"/>
              <a:pathLst>
                <a:path h="3286125" w="5191125">
                  <a:moveTo>
                    <a:pt x="0" y="0"/>
                  </a:moveTo>
                  <a:lnTo>
                    <a:pt x="0" y="3286125"/>
                  </a:lnTo>
                  <a:lnTo>
                    <a:pt x="5191125" y="3286125"/>
                  </a:lnTo>
                  <a:lnTo>
                    <a:pt x="5191125" y="0"/>
                  </a:lnTo>
                  <a:close/>
                </a:path>
              </a:pathLst>
            </a:custGeom>
            <a:solidFill>
              <a:srgbClr val="EEF3EC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34950" y="1406525"/>
              <a:ext cx="5191125" cy="3286125"/>
            </a:xfrm>
            <a:custGeom>
              <a:avLst/>
              <a:gdLst/>
              <a:ahLst/>
              <a:cxnLst/>
              <a:rect r="r" b="b" t="t" l="l"/>
              <a:pathLst>
                <a:path h="3286125" w="5191125">
                  <a:moveTo>
                    <a:pt x="5172075" y="19050"/>
                  </a:moveTo>
                  <a:lnTo>
                    <a:pt x="5172075" y="3267075"/>
                  </a:lnTo>
                  <a:lnTo>
                    <a:pt x="19050" y="3267075"/>
                  </a:lnTo>
                  <a:lnTo>
                    <a:pt x="19050" y="19050"/>
                  </a:lnTo>
                  <a:close/>
                  <a:moveTo>
                    <a:pt x="0" y="0"/>
                  </a:moveTo>
                  <a:lnTo>
                    <a:pt x="0" y="9525"/>
                  </a:lnTo>
                  <a:lnTo>
                    <a:pt x="0" y="3276600"/>
                  </a:lnTo>
                  <a:lnTo>
                    <a:pt x="0" y="3286125"/>
                  </a:lnTo>
                  <a:lnTo>
                    <a:pt x="5191125" y="3286125"/>
                  </a:lnTo>
                  <a:lnTo>
                    <a:pt x="5191125" y="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7700" y="2981325"/>
            <a:ext cx="5153025" cy="3248025"/>
            <a:chOff x="0" y="0"/>
            <a:chExt cx="6870700" cy="4330700"/>
          </a:xfrm>
        </p:grpSpPr>
        <p:sp>
          <p:nvSpPr>
            <p:cNvPr name="Freeform 23" id="23" descr="Prototype: path cards"/>
            <p:cNvSpPr/>
            <p:nvPr/>
          </p:nvSpPr>
          <p:spPr>
            <a:xfrm flipH="false" flipV="false" rot="0">
              <a:off x="0" y="0"/>
              <a:ext cx="6870700" cy="4330700"/>
            </a:xfrm>
            <a:custGeom>
              <a:avLst/>
              <a:gdLst/>
              <a:ahLst/>
              <a:cxnLst/>
              <a:rect r="r" b="b" t="t" l="l"/>
              <a:pathLst>
                <a:path h="4330700" w="6870700">
                  <a:moveTo>
                    <a:pt x="0" y="0"/>
                  </a:moveTo>
                  <a:lnTo>
                    <a:pt x="6870700" y="0"/>
                  </a:lnTo>
                  <a:lnTo>
                    <a:pt x="6870700" y="4330700"/>
                  </a:lnTo>
                  <a:lnTo>
                    <a:pt x="0" y="4330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391275" y="2981325"/>
            <a:ext cx="5153025" cy="3248025"/>
            <a:chOff x="0" y="0"/>
            <a:chExt cx="6870700" cy="4330700"/>
          </a:xfrm>
        </p:grpSpPr>
        <p:sp>
          <p:nvSpPr>
            <p:cNvPr name="Freeform 25" id="25" descr="Prototype: competition and match panels"/>
            <p:cNvSpPr/>
            <p:nvPr/>
          </p:nvSpPr>
          <p:spPr>
            <a:xfrm flipH="false" flipV="false" rot="0">
              <a:off x="0" y="0"/>
              <a:ext cx="6870700" cy="4330700"/>
            </a:xfrm>
            <a:custGeom>
              <a:avLst/>
              <a:gdLst/>
              <a:ahLst/>
              <a:cxnLst/>
              <a:rect r="r" b="b" t="t" l="l"/>
              <a:pathLst>
                <a:path h="4330700" w="6870700">
                  <a:moveTo>
                    <a:pt x="0" y="0"/>
                  </a:moveTo>
                  <a:lnTo>
                    <a:pt x="6870700" y="0"/>
                  </a:lnTo>
                  <a:lnTo>
                    <a:pt x="6870700" y="4330700"/>
                  </a:lnTo>
                  <a:lnTo>
                    <a:pt x="0" y="4330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" r="0" b="-24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670972" y="5724896"/>
            <a:ext cx="6892728" cy="835981"/>
            <a:chOff x="0" y="0"/>
            <a:chExt cx="6892734" cy="8359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16586" y="100204"/>
              <a:ext cx="6712587" cy="672342"/>
            </a:xfrm>
            <a:custGeom>
              <a:avLst/>
              <a:gdLst/>
              <a:ahLst/>
              <a:cxnLst/>
              <a:rect r="r" b="b" t="t" l="l"/>
              <a:pathLst>
                <a:path h="672342" w="6712587">
                  <a:moveTo>
                    <a:pt x="6697348" y="0"/>
                  </a:moveTo>
                  <a:lnTo>
                    <a:pt x="6649723" y="1651"/>
                  </a:lnTo>
                  <a:lnTo>
                    <a:pt x="6663312" y="391924"/>
                  </a:lnTo>
                  <a:lnTo>
                    <a:pt x="0" y="624717"/>
                  </a:lnTo>
                  <a:lnTo>
                    <a:pt x="1651" y="672342"/>
                  </a:lnTo>
                  <a:lnTo>
                    <a:pt x="6712587" y="437898"/>
                  </a:lnTo>
                  <a:lnTo>
                    <a:pt x="6697347" y="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63500" y="63500"/>
              <a:ext cx="6726303" cy="672215"/>
            </a:xfrm>
            <a:custGeom>
              <a:avLst/>
              <a:gdLst/>
              <a:ahLst/>
              <a:cxnLst/>
              <a:rect r="r" b="b" t="t" l="l"/>
              <a:pathLst>
                <a:path h="672215" w="6726303">
                  <a:moveTo>
                    <a:pt x="0" y="234317"/>
                  </a:moveTo>
                  <a:lnTo>
                    <a:pt x="6711063" y="0"/>
                  </a:lnTo>
                  <a:lnTo>
                    <a:pt x="6726303" y="437899"/>
                  </a:lnTo>
                  <a:lnTo>
                    <a:pt x="15240" y="67221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63500" y="63500"/>
              <a:ext cx="6726430" cy="672215"/>
            </a:xfrm>
            <a:custGeom>
              <a:avLst/>
              <a:gdLst/>
              <a:ahLst/>
              <a:cxnLst/>
              <a:rect r="r" b="b" t="t" l="l"/>
              <a:pathLst>
                <a:path h="672215" w="6726430">
                  <a:moveTo>
                    <a:pt x="14224" y="233809"/>
                  </a:moveTo>
                  <a:lnTo>
                    <a:pt x="6696712" y="508"/>
                  </a:lnTo>
                  <a:lnTo>
                    <a:pt x="6711063" y="0"/>
                  </a:lnTo>
                  <a:lnTo>
                    <a:pt x="6711571" y="14224"/>
                  </a:lnTo>
                  <a:lnTo>
                    <a:pt x="6725922" y="423548"/>
                  </a:lnTo>
                  <a:lnTo>
                    <a:pt x="6726431" y="437772"/>
                  </a:lnTo>
                  <a:lnTo>
                    <a:pt x="6712207" y="438280"/>
                  </a:lnTo>
                  <a:lnTo>
                    <a:pt x="29591" y="671708"/>
                  </a:lnTo>
                  <a:lnTo>
                    <a:pt x="15367" y="672216"/>
                  </a:lnTo>
                  <a:lnTo>
                    <a:pt x="14859" y="657991"/>
                  </a:lnTo>
                  <a:lnTo>
                    <a:pt x="508" y="248668"/>
                  </a:lnTo>
                  <a:lnTo>
                    <a:pt x="0" y="234317"/>
                  </a:lnTo>
                  <a:lnTo>
                    <a:pt x="14224" y="233809"/>
                  </a:lnTo>
                  <a:moveTo>
                    <a:pt x="15240" y="262384"/>
                  </a:moveTo>
                  <a:lnTo>
                    <a:pt x="14732" y="248160"/>
                  </a:lnTo>
                  <a:lnTo>
                    <a:pt x="28956" y="247652"/>
                  </a:lnTo>
                  <a:lnTo>
                    <a:pt x="43307" y="656975"/>
                  </a:lnTo>
                  <a:lnTo>
                    <a:pt x="29083" y="657484"/>
                  </a:lnTo>
                  <a:lnTo>
                    <a:pt x="28575" y="643259"/>
                  </a:lnTo>
                  <a:lnTo>
                    <a:pt x="6711063" y="409832"/>
                  </a:lnTo>
                  <a:lnTo>
                    <a:pt x="6711571" y="424056"/>
                  </a:lnTo>
                  <a:lnTo>
                    <a:pt x="6697347" y="424564"/>
                  </a:lnTo>
                  <a:lnTo>
                    <a:pt x="6682996" y="15240"/>
                  </a:lnTo>
                  <a:lnTo>
                    <a:pt x="6697220" y="14732"/>
                  </a:lnTo>
                  <a:lnTo>
                    <a:pt x="6697728" y="28957"/>
                  </a:lnTo>
                  <a:lnTo>
                    <a:pt x="15240" y="262384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334125" y="1531144"/>
            <a:ext cx="2581275" cy="219075"/>
            <a:chOff x="0" y="0"/>
            <a:chExt cx="2581275" cy="21907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81275" cy="219075"/>
            </a:xfrm>
            <a:custGeom>
              <a:avLst/>
              <a:gdLst/>
              <a:ahLst/>
              <a:cxnLst/>
              <a:rect r="r" b="b" t="t" l="l"/>
              <a:pathLst>
                <a:path h="219075" w="2581275">
                  <a:moveTo>
                    <a:pt x="0" y="0"/>
                  </a:moveTo>
                  <a:lnTo>
                    <a:pt x="2581275" y="0"/>
                  </a:lnTo>
                  <a:lnTo>
                    <a:pt x="2581275" y="219075"/>
                  </a:lnTo>
                  <a:lnTo>
                    <a:pt x="0" y="219075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372225" y="2314575"/>
            <a:ext cx="76200" cy="76200"/>
            <a:chOff x="0" y="0"/>
            <a:chExt cx="76200" cy="76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372225" y="2533650"/>
            <a:ext cx="76200" cy="76200"/>
            <a:chOff x="0" y="0"/>
            <a:chExt cx="76200" cy="76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372225" y="2752725"/>
            <a:ext cx="76200" cy="76200"/>
            <a:chOff x="0" y="0"/>
            <a:chExt cx="76200" cy="76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083527" y="1485709"/>
            <a:ext cx="1521200" cy="271796"/>
            <a:chOff x="0" y="0"/>
            <a:chExt cx="1521193" cy="27179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21201" cy="271777"/>
            </a:xfrm>
            <a:custGeom>
              <a:avLst/>
              <a:gdLst/>
              <a:ahLst/>
              <a:cxnLst/>
              <a:rect r="r" b="b" t="t" l="l"/>
              <a:pathLst>
                <a:path h="271777" w="1521201">
                  <a:moveTo>
                    <a:pt x="7620" y="0"/>
                  </a:moveTo>
                  <a:lnTo>
                    <a:pt x="1521201" y="52831"/>
                  </a:lnTo>
                  <a:lnTo>
                    <a:pt x="1513581" y="271777"/>
                  </a:lnTo>
                  <a:lnTo>
                    <a:pt x="0" y="218946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6429375" y="1553127"/>
            <a:ext cx="2432447" cy="1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b="true" sz="787" spc="59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TVET COMPANIES &amp; TRAINING PROVIDERS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52450" y="383934"/>
            <a:ext cx="1072467" cy="1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b="true" sz="787" spc="60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WHO CAN USE · 07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57200" y="714642"/>
            <a:ext cx="6307074" cy="8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300">
                <a:solidFill>
                  <a:srgbClr val="111111"/>
                </a:solidFill>
                <a:latin typeface="Archivo Black"/>
                <a:ea typeface="Archivo Black"/>
                <a:cs typeface="Archivo Black"/>
                <a:sym typeface="Archivo Black"/>
              </a:rPr>
              <a:t>BUILT FOR THE WORKER.</a:t>
            </a:r>
          </a:p>
          <a:p>
            <a:pPr algn="l">
              <a:lnSpc>
                <a:spcPts val="3300"/>
              </a:lnSpc>
            </a:pPr>
            <a:r>
              <a:rPr lang="en-US" sz="3300">
                <a:solidFill>
                  <a:srgbClr val="16A34A"/>
                </a:solidFill>
                <a:latin typeface="Archivo Black"/>
                <a:ea typeface="Archivo Black"/>
                <a:cs typeface="Archivo Black"/>
                <a:sym typeface="Archivo Black"/>
              </a:rPr>
              <a:t>USEFUL TO THE INDUSTRY.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85800" y="1553127"/>
            <a:ext cx="914162" cy="1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b="true" sz="787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TVET WORKERS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57200" y="6491764"/>
            <a:ext cx="2746486" cy="10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4"/>
              </a:lnSpc>
            </a:pPr>
            <a:r>
              <a:rPr lang="en-US" b="true" sz="675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The employer view is on the roadmap (proposal: future extension).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28650" y="1860118"/>
            <a:ext cx="2380450" cy="31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11111"/>
                </a:solidFill>
                <a:latin typeface="Archivo Black"/>
                <a:ea typeface="Archivo Black"/>
                <a:cs typeface="Archivo Black"/>
                <a:sym typeface="Archivo Black"/>
              </a:rPr>
              <a:t>A PERSONAL PLAN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08021" y="2269226"/>
            <a:ext cx="31823" cy="14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b="true" sz="975">
                <a:solidFill>
                  <a:srgbClr val="11111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372225" y="1860118"/>
            <a:ext cx="3162281" cy="31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11111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MARKET DIRECTION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402193" y="2269226"/>
            <a:ext cx="31823" cy="14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b="true" sz="975">
                <a:solidFill>
                  <a:srgbClr val="11111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81050" y="2231126"/>
            <a:ext cx="3329759" cy="625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4"/>
              </a:lnSpc>
            </a:pPr>
            <a:r>
              <a:rPr lang="en-US" b="true" sz="975">
                <a:solidFill>
                  <a:srgbClr val="11111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Seetheskillstheyalready have, including hidden ones Compare Stay, Evolve and Pivot for their state</a:t>
            </a:r>
          </a:p>
          <a:p>
            <a:pPr algn="l">
              <a:lnSpc>
                <a:spcPts val="1724"/>
              </a:lnSpc>
            </a:pPr>
            <a:r>
              <a:rPr lang="en-US" b="true" sz="975">
                <a:solidFill>
                  <a:srgbClr val="11111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Get a plan that fits 4 hours a week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524625" y="2269226"/>
            <a:ext cx="2705719" cy="14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b="true" sz="975">
                <a:solidFill>
                  <a:srgbClr val="11111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Which roles are growing, whicharecrowded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524625" y="2450201"/>
            <a:ext cx="2820152" cy="40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4"/>
              </a:lnSpc>
            </a:pPr>
            <a:r>
              <a:rPr lang="en-US" b="true" sz="975">
                <a:solidFill>
                  <a:srgbClr val="11111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Which skills to train next, by state</a:t>
            </a:r>
          </a:p>
          <a:p>
            <a:pPr algn="l">
              <a:lnSpc>
                <a:spcPts val="1724"/>
              </a:lnSpc>
            </a:pPr>
            <a:r>
              <a:rPr lang="en-US" b="true" sz="975">
                <a:solidFill>
                  <a:srgbClr val="111111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Next:</a:t>
            </a:r>
            <a:r>
              <a:rPr lang="en-US" b="true" sz="975">
                <a:solidFill>
                  <a:srgbClr val="11111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team skill-gap heatmap (employer view)</a:t>
            </a:r>
          </a:p>
        </p:txBody>
      </p:sp>
      <p:sp>
        <p:nvSpPr>
          <p:cNvPr name="TextBox 52" id="52"/>
          <p:cNvSpPr txBox="true"/>
          <p:nvPr/>
        </p:nvSpPr>
        <p:spPr>
          <a:xfrm rot="120000">
            <a:off x="10183943" y="1533963"/>
            <a:ext cx="1343425" cy="1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b="true" sz="787" spc="55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EMPLOYER VIEW: NEXT</a:t>
            </a:r>
          </a:p>
        </p:txBody>
      </p:sp>
      <p:sp>
        <p:nvSpPr>
          <p:cNvPr name="TextBox 53" id="53"/>
          <p:cNvSpPr txBox="true"/>
          <p:nvPr/>
        </p:nvSpPr>
        <p:spPr>
          <a:xfrm rot="-120000">
            <a:off x="2959101" y="5965313"/>
            <a:ext cx="6403705" cy="31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11111"/>
                </a:solidFill>
                <a:latin typeface="Archivo Black"/>
                <a:ea typeface="Archivo Black"/>
                <a:cs typeface="Archivo Black"/>
                <a:sym typeface="Archivo Black"/>
              </a:rPr>
              <a:t>ONE CLEAR PICTURE OF </a:t>
            </a:r>
            <a:r>
              <a:rPr lang="en-US" sz="1800">
                <a:solidFill>
                  <a:srgbClr val="DC2626"/>
                </a:solidFill>
                <a:latin typeface="Archivo Black"/>
                <a:ea typeface="Archivo Black"/>
                <a:cs typeface="Archivo Black"/>
                <a:sym typeface="Archivo Black"/>
              </a:rPr>
              <a:t>WHERE JOBS ARE GOING.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7200" y="419100"/>
            <a:ext cx="819150" cy="219075"/>
            <a:chOff x="0" y="0"/>
            <a:chExt cx="819150" cy="219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9150" cy="219075"/>
            </a:xfrm>
            <a:custGeom>
              <a:avLst/>
              <a:gdLst/>
              <a:ahLst/>
              <a:cxnLst/>
              <a:rect r="r" b="b" t="t" l="l"/>
              <a:pathLst>
                <a:path h="219075" w="819150">
                  <a:moveTo>
                    <a:pt x="0" y="0"/>
                  </a:moveTo>
                  <a:lnTo>
                    <a:pt x="819150" y="0"/>
                  </a:lnTo>
                  <a:lnTo>
                    <a:pt x="819150" y="219075"/>
                  </a:lnTo>
                  <a:lnTo>
                    <a:pt x="0" y="219075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51597" y="355597"/>
            <a:ext cx="5346697" cy="5508622"/>
            <a:chOff x="0" y="0"/>
            <a:chExt cx="5346700" cy="55086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5219700" cy="5381625"/>
            </a:xfrm>
            <a:custGeom>
              <a:avLst/>
              <a:gdLst/>
              <a:ahLst/>
              <a:cxnLst/>
              <a:rect r="r" b="b" t="t" l="l"/>
              <a:pathLst>
                <a:path h="5381625" w="5219700">
                  <a:moveTo>
                    <a:pt x="0" y="0"/>
                  </a:moveTo>
                  <a:lnTo>
                    <a:pt x="5219700" y="0"/>
                  </a:lnTo>
                  <a:lnTo>
                    <a:pt x="5219700" y="5381625"/>
                  </a:lnTo>
                  <a:lnTo>
                    <a:pt x="0" y="5381625"/>
                  </a:lnTo>
                  <a:close/>
                </a:path>
              </a:pathLst>
            </a:custGeom>
            <a:solidFill>
              <a:srgbClr val="EEF3EC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5219700" cy="5381625"/>
            </a:xfrm>
            <a:custGeom>
              <a:avLst/>
              <a:gdLst/>
              <a:ahLst/>
              <a:cxnLst/>
              <a:rect r="r" b="b" t="t" l="l"/>
              <a:pathLst>
                <a:path h="5381625" w="5219700">
                  <a:moveTo>
                    <a:pt x="9525" y="0"/>
                  </a:moveTo>
                  <a:lnTo>
                    <a:pt x="5210175" y="0"/>
                  </a:lnTo>
                  <a:lnTo>
                    <a:pt x="5219700" y="0"/>
                  </a:lnTo>
                  <a:lnTo>
                    <a:pt x="5219700" y="9525"/>
                  </a:lnTo>
                  <a:lnTo>
                    <a:pt x="5219700" y="5372100"/>
                  </a:lnTo>
                  <a:lnTo>
                    <a:pt x="5219700" y="5381625"/>
                  </a:lnTo>
                  <a:lnTo>
                    <a:pt x="5210175" y="5381625"/>
                  </a:lnTo>
                  <a:lnTo>
                    <a:pt x="9525" y="5381625"/>
                  </a:lnTo>
                  <a:lnTo>
                    <a:pt x="0" y="5381625"/>
                  </a:lnTo>
                  <a:lnTo>
                    <a:pt x="0" y="5372100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5372100"/>
                  </a:lnTo>
                  <a:lnTo>
                    <a:pt x="9525" y="5372100"/>
                  </a:lnTo>
                  <a:lnTo>
                    <a:pt x="9525" y="5362575"/>
                  </a:lnTo>
                  <a:lnTo>
                    <a:pt x="5210175" y="5362575"/>
                  </a:lnTo>
                  <a:lnTo>
                    <a:pt x="5210175" y="5372100"/>
                  </a:lnTo>
                  <a:lnTo>
                    <a:pt x="5200650" y="5372100"/>
                  </a:lnTo>
                  <a:lnTo>
                    <a:pt x="5200650" y="9525"/>
                  </a:lnTo>
                  <a:lnTo>
                    <a:pt x="5210175" y="9525"/>
                  </a:lnTo>
                  <a:lnTo>
                    <a:pt x="521017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534150" y="438150"/>
            <a:ext cx="5181600" cy="5343525"/>
            <a:chOff x="0" y="0"/>
            <a:chExt cx="6908800" cy="7124700"/>
          </a:xfrm>
        </p:grpSpPr>
        <p:sp>
          <p:nvSpPr>
            <p:cNvPr name="Freeform 8" id="8" descr="Prototype: Career Transition Card"/>
            <p:cNvSpPr/>
            <p:nvPr/>
          </p:nvSpPr>
          <p:spPr>
            <a:xfrm flipH="false" flipV="false" rot="0">
              <a:off x="0" y="0"/>
              <a:ext cx="6908800" cy="7124700"/>
            </a:xfrm>
            <a:custGeom>
              <a:avLst/>
              <a:gdLst/>
              <a:ahLst/>
              <a:cxnLst/>
              <a:rect r="r" b="b" t="t" l="l"/>
              <a:pathLst>
                <a:path h="7124700" w="6908800">
                  <a:moveTo>
                    <a:pt x="0" y="0"/>
                  </a:moveTo>
                  <a:lnTo>
                    <a:pt x="6908800" y="0"/>
                  </a:lnTo>
                  <a:lnTo>
                    <a:pt x="6908800" y="7124700"/>
                  </a:lnTo>
                  <a:lnTo>
                    <a:pt x="0" y="712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63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515100" y="5934075"/>
            <a:ext cx="504825" cy="209550"/>
            <a:chOff x="0" y="0"/>
            <a:chExt cx="504825" cy="2095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4825" cy="209550"/>
            </a:xfrm>
            <a:custGeom>
              <a:avLst/>
              <a:gdLst/>
              <a:ahLst/>
              <a:cxnLst/>
              <a:rect r="r" b="b" t="t" l="l"/>
              <a:pathLst>
                <a:path h="209550" w="504825">
                  <a:moveTo>
                    <a:pt x="0" y="0"/>
                  </a:moveTo>
                  <a:lnTo>
                    <a:pt x="504825" y="0"/>
                  </a:lnTo>
                  <a:lnTo>
                    <a:pt x="504825" y="209550"/>
                  </a:lnTo>
                  <a:lnTo>
                    <a:pt x="0" y="20955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52450" y="441084"/>
            <a:ext cx="631431" cy="1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b="true" sz="787" spc="60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CLOSE · 08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14217" y="5956059"/>
            <a:ext cx="307457" cy="1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b="true" sz="787" spc="52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NEXT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7200" y="2185016"/>
            <a:ext cx="5467245" cy="2079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40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WE DON'T PREDICT REPLACEMENT.</a:t>
            </a:r>
          </a:p>
          <a:p>
            <a:pPr algn="l">
              <a:lnSpc>
                <a:spcPts val="4050"/>
              </a:lnSpc>
            </a:pPr>
            <a:r>
              <a:rPr lang="en-US" sz="4050">
                <a:solidFill>
                  <a:srgbClr val="16A34A"/>
                </a:solidFill>
                <a:latin typeface="Archivo Black"/>
                <a:ea typeface="Archivo Black"/>
                <a:cs typeface="Archivo Black"/>
                <a:sym typeface="Archivo Black"/>
              </a:rPr>
              <a:t>WE DESIGN THE</a:t>
            </a:r>
          </a:p>
          <a:p>
            <a:pPr algn="l">
              <a:lnSpc>
                <a:spcPts val="4050"/>
              </a:lnSpc>
            </a:pPr>
            <a:r>
              <a:rPr lang="en-US" sz="4050">
                <a:solidFill>
                  <a:srgbClr val="16A34A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RESHAPING.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1744" y="4360116"/>
            <a:ext cx="43720" cy="188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D1D5D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7200" y="4360116"/>
            <a:ext cx="5758024" cy="188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D1D5DB"/>
                </a:solidFill>
                <a:latin typeface="Inter Medium"/>
                <a:ea typeface="Inter Medium"/>
                <a:cs typeface="Inter Medium"/>
                <a:sym typeface="Inter Medium"/>
              </a:rPr>
              <a:t>First</a:t>
            </a:r>
            <a:r>
              <a:rPr lang="en-US" b="true" sz="12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200">
                <a:solidFill>
                  <a:srgbClr val="D1D5DB"/>
                </a:solidFill>
                <a:latin typeface="Inter Medium"/>
                <a:ea typeface="Inter Medium"/>
                <a:cs typeface="Inter Medium"/>
                <a:sym typeface="Inter Medium"/>
              </a:rPr>
              <a:t>certify</a:t>
            </a:r>
            <a:r>
              <a:rPr lang="en-US" b="true" sz="12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200">
                <a:solidFill>
                  <a:srgbClr val="D1D5DB"/>
                </a:solidFill>
                <a:latin typeface="Inter Medium"/>
                <a:ea typeface="Inter Medium"/>
                <a:cs typeface="Inter Medium"/>
                <a:sym typeface="Inter Medium"/>
              </a:rPr>
              <a:t>what</a:t>
            </a:r>
            <a:r>
              <a:rPr lang="en-US" b="true" sz="12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200">
                <a:solidFill>
                  <a:srgbClr val="D1D5DB"/>
                </a:solidFill>
                <a:latin typeface="Inter Medium"/>
                <a:ea typeface="Inter Medium"/>
                <a:cs typeface="Inter Medium"/>
                <a:sym typeface="Inter Medium"/>
              </a:rPr>
              <a:t>he</a:t>
            </a:r>
            <a:r>
              <a:rPr lang="en-US" b="true" sz="12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200">
                <a:solidFill>
                  <a:srgbClr val="D1D5DB"/>
                </a:solidFill>
                <a:latin typeface="Inter Medium"/>
                <a:ea typeface="Inter Medium"/>
                <a:cs typeface="Inter Medium"/>
                <a:sym typeface="Inter Medium"/>
              </a:rPr>
              <a:t>knows.</a:t>
            </a:r>
            <a:r>
              <a:rPr lang="en-US" b="true" sz="12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200">
                <a:solidFill>
                  <a:srgbClr val="D1D5DB"/>
                </a:solidFill>
                <a:latin typeface="Inter Medium"/>
                <a:ea typeface="Inter Medium"/>
                <a:cs typeface="Inter Medium"/>
                <a:sym typeface="Inter Medium"/>
              </a:rPr>
              <a:t>Then</a:t>
            </a:r>
            <a:r>
              <a:rPr lang="en-US" b="true" sz="12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200">
                <a:solidFill>
                  <a:srgbClr val="D1D5DB"/>
                </a:solidFill>
                <a:latin typeface="Inter Medium"/>
                <a:ea typeface="Inter Medium"/>
                <a:cs typeface="Inter Medium"/>
                <a:sym typeface="Inter Medium"/>
              </a:rPr>
              <a:t>fill</a:t>
            </a:r>
            <a:r>
              <a:rPr lang="en-US" b="true" sz="12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200">
                <a:solidFill>
                  <a:srgbClr val="D1D5DB"/>
                </a:solidFill>
                <a:latin typeface="Inter Medium"/>
                <a:ea typeface="Inter Medium"/>
                <a:cs typeface="Inter Medium"/>
                <a:sym typeface="Inter Medium"/>
              </a:rPr>
              <a:t>the</a:t>
            </a:r>
            <a:r>
              <a:rPr lang="en-US" b="true" sz="12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200">
                <a:solidFill>
                  <a:srgbClr val="D1D5DB"/>
                </a:solidFill>
                <a:latin typeface="Inter Medium"/>
                <a:ea typeface="Inter Medium"/>
                <a:cs typeface="Inter Medium"/>
                <a:sym typeface="Inter Medium"/>
              </a:rPr>
              <a:t>gap.</a:t>
            </a:r>
            <a:r>
              <a:rPr lang="en-US" b="true" sz="12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200">
                <a:solidFill>
                  <a:srgbClr val="D1D5DB"/>
                </a:solidFill>
                <a:latin typeface="Inter Medium"/>
                <a:ea typeface="Inter Medium"/>
                <a:cs typeface="Inter Medium"/>
                <a:sym typeface="Inter Medium"/>
              </a:rPr>
              <a:t>Then</a:t>
            </a:r>
            <a:r>
              <a:rPr lang="en-US" b="true" sz="12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200">
                <a:solidFill>
                  <a:srgbClr val="D1D5DB"/>
                </a:solidFill>
                <a:latin typeface="Inter Medium"/>
                <a:ea typeface="Inter Medium"/>
                <a:cs typeface="Inter Medium"/>
                <a:sym typeface="Inter Medium"/>
              </a:rPr>
              <a:t>invest</a:t>
            </a:r>
            <a:r>
              <a:rPr lang="en-US" b="true" sz="12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200">
                <a:solidFill>
                  <a:srgbClr val="D1D5DB"/>
                </a:solidFill>
                <a:latin typeface="Inter Medium"/>
                <a:ea typeface="Inter Medium"/>
                <a:cs typeface="Inter Medium"/>
                <a:sym typeface="Inter Medium"/>
              </a:rPr>
              <a:t>where</a:t>
            </a:r>
            <a:r>
              <a:rPr lang="en-US" b="true" sz="12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200">
                <a:solidFill>
                  <a:srgbClr val="D1D5DB"/>
                </a:solidFill>
                <a:latin typeface="Inter Medium"/>
                <a:ea typeface="Inter Medium"/>
                <a:cs typeface="Inter Medium"/>
                <a:sym typeface="Inter Medium"/>
              </a:rPr>
              <a:t>the</a:t>
            </a:r>
            <a:r>
              <a:rPr lang="en-US" b="true" sz="12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200">
                <a:solidFill>
                  <a:srgbClr val="D1D5DB"/>
                </a:solidFill>
                <a:latin typeface="Inter Medium"/>
                <a:ea typeface="Inter Medium"/>
                <a:cs typeface="Inter Medium"/>
                <a:sym typeface="Inter Medium"/>
              </a:rPr>
              <a:t>window</a:t>
            </a:r>
            <a:r>
              <a:rPr lang="en-US" b="true" sz="12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200">
                <a:solidFill>
                  <a:srgbClr val="D1D5DB"/>
                </a:solidFill>
                <a:latin typeface="Inter Medium"/>
                <a:ea typeface="Inter Medium"/>
                <a:cs typeface="Inter Medium"/>
                <a:sym typeface="Inter Medium"/>
              </a:rPr>
              <a:t>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7200" y="4579191"/>
            <a:ext cx="586349" cy="188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D1D5DB"/>
                </a:solidFill>
                <a:latin typeface="Inter Medium"/>
                <a:ea typeface="Inter Medium"/>
                <a:cs typeface="Inter Medium"/>
                <a:sym typeface="Inter Medium"/>
              </a:rPr>
              <a:t>longest.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7200" y="6277108"/>
            <a:ext cx="1652216" cy="293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KMJDIHATIKU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25278" y="6363329"/>
            <a:ext cx="1486243" cy="13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9CA3AF"/>
                </a:solidFill>
                <a:latin typeface="Inter Medium"/>
                <a:ea typeface="Inter Medium"/>
                <a:cs typeface="Inter Medium"/>
                <a:sym typeface="Inter Medium"/>
              </a:rPr>
              <a:t>[contact] · [demo link / QR]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18967" y="6203051"/>
            <a:ext cx="5133584" cy="34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9"/>
              </a:lnSpc>
            </a:pPr>
            <a:r>
              <a:rPr lang="en-US" b="true" sz="975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[Pilot with a TVET provider] · [More green slices: water, waste] · [Bahasa Malaysia and Chinese UI]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DAHYynzKjdY</dc:identifier>
  <dcterms:modified xsi:type="dcterms:W3CDTF">2011-08-01T06:04:30Z</dcterms:modified>
  <cp:revision>1</cp:revision>
  <dc:title>THREE SCREENS. ONE CLEAR NEXT STEP.</dc:title>
</cp:coreProperties>
</file>